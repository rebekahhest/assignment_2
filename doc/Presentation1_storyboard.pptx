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1" r:id="rId4"/>
    <p:sldId id="260" r:id="rId5"/>
    <p:sldId id="270" r:id="rId6"/>
    <p:sldId id="271" r:id="rId7"/>
    <p:sldId id="262" r:id="rId8"/>
    <p:sldId id="263" r:id="rId9"/>
    <p:sldId id="272" r:id="rId10"/>
    <p:sldId id="273" r:id="rId11"/>
    <p:sldId id="27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F2C8"/>
    <a:srgbClr val="0000FD"/>
    <a:srgbClr val="FFC328"/>
    <a:srgbClr val="FF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3636"/>
  </p:normalViewPr>
  <p:slideViewPr>
    <p:cSldViewPr snapToGrid="0">
      <p:cViewPr varScale="1">
        <p:scale>
          <a:sx n="96" d="100"/>
          <a:sy n="96" d="100"/>
        </p:scale>
        <p:origin x="17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9BEA36-B491-E34A-A785-DFB829132D1C}" type="doc">
      <dgm:prSet loTypeId="urn:microsoft.com/office/officeart/2005/8/layout/bProcess3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3400D44E-C808-2347-BB24-17621810911F}">
      <dgm:prSet custT="1"/>
      <dgm:spPr>
        <a:solidFill>
          <a:srgbClr val="FFC328">
            <a:alpha val="65098"/>
          </a:srgbClr>
        </a:solidFill>
        <a:ln>
          <a:noFill/>
        </a:ln>
      </dgm:spPr>
      <dgm:t>
        <a:bodyPr/>
        <a:lstStyle/>
        <a:p>
          <a:pPr algn="ctr">
            <a:buNone/>
          </a:pPr>
          <a:r>
            <a:rPr lang="en-CA" sz="2000" dirty="0">
              <a:solidFill>
                <a:schemeClr val="tx1"/>
              </a:solidFill>
            </a:rPr>
            <a:t> remove NA:  BIN</a:t>
          </a:r>
          <a:r>
            <a:rPr lang="en-US" sz="2000" dirty="0">
              <a:solidFill>
                <a:schemeClr val="tx1"/>
              </a:solidFill>
            </a:rPr>
            <a:t>, </a:t>
          </a:r>
          <a:r>
            <a:rPr lang="en-US" sz="2000" dirty="0" err="1">
              <a:solidFill>
                <a:schemeClr val="tx1"/>
              </a:solidFill>
            </a:rPr>
            <a:t>lat</a:t>
          </a:r>
          <a:r>
            <a:rPr lang="en-US" sz="2000" dirty="0">
              <a:solidFill>
                <a:schemeClr val="tx1"/>
              </a:solidFill>
            </a:rPr>
            <a:t>, </a:t>
          </a:r>
          <a:r>
            <a:rPr lang="en-US" sz="2000" dirty="0" err="1">
              <a:solidFill>
                <a:schemeClr val="tx1"/>
              </a:solidFill>
            </a:rPr>
            <a:t>lon</a:t>
          </a:r>
          <a:endParaRPr lang="en-CA" sz="2000" dirty="0">
            <a:solidFill>
              <a:schemeClr val="tx1"/>
            </a:solidFill>
          </a:endParaRPr>
        </a:p>
      </dgm:t>
    </dgm:pt>
    <dgm:pt modelId="{58A280F2-3C69-8F46-BADC-00DB1889A771}" type="parTrans" cxnId="{B45A079F-E574-9B48-8E31-80A1482F2F59}">
      <dgm:prSet/>
      <dgm:spPr/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0BFDF2B3-0187-3847-AA0D-B84482EAE5F6}" type="sibTrans" cxnId="{B45A079F-E574-9B48-8E31-80A1482F2F59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19050" cap="flat" cmpd="sng" algn="ctr">
          <a:solidFill>
            <a:schemeClr val="accent1"/>
          </a:solidFill>
          <a:prstDash val="solid"/>
          <a:round/>
          <a:headEnd type="none" w="med" len="med"/>
          <a:tailEnd type="arrow" w="med" len="med"/>
        </a:ln>
      </dgm:spPr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8002ACCD-810B-6E40-A088-0AFFDDCA22E4}">
      <dgm:prSet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pPr algn="ctr">
            <a:buNone/>
          </a:pPr>
          <a:r>
            <a:rPr lang="en-CA" sz="2000" dirty="0">
              <a:solidFill>
                <a:schemeClr val="tx1"/>
              </a:solidFill>
            </a:rPr>
            <a:t>Generalized Additive Model &amp; Plot:</a:t>
          </a:r>
        </a:p>
      </dgm:t>
    </dgm:pt>
    <dgm:pt modelId="{8CB431F0-EF40-0E4F-8C3A-B425FB78D2A7}" type="parTrans" cxnId="{414D4655-32F9-554C-8B8A-42041AF4AE2D}">
      <dgm:prSet/>
      <dgm:spPr/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34C88381-FF12-9E4C-B40F-7C1679E31830}" type="sibTrans" cxnId="{414D4655-32F9-554C-8B8A-42041AF4AE2D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19050" cap="flat" cmpd="sng" algn="ctr">
          <a:solidFill>
            <a:schemeClr val="accent1"/>
          </a:solidFill>
          <a:prstDash val="solid"/>
          <a:round/>
          <a:headEnd type="none" w="med" len="med"/>
          <a:tailEnd type="arrow" w="med" len="med"/>
        </a:ln>
      </dgm:spPr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A1197CCE-3552-084A-8F9C-7754F2C270B3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 algn="ctr">
            <a:buNone/>
          </a:pPr>
          <a:r>
            <a:rPr lang="en-CA" sz="2000" dirty="0">
              <a:solidFill>
                <a:schemeClr val="tx1"/>
              </a:solidFill>
            </a:rPr>
            <a:t>Calculate:</a:t>
          </a:r>
        </a:p>
      </dgm:t>
    </dgm:pt>
    <dgm:pt modelId="{892ECD1B-C399-4E48-A1D9-0738557F457E}" type="parTrans" cxnId="{A13AE7D6-3C45-0141-BB3B-02361756DFCC}">
      <dgm:prSet/>
      <dgm:spPr/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2F29E82A-81EF-DD4C-961D-B8159F8662DF}" type="sibTrans" cxnId="{A13AE7D6-3C45-0141-BB3B-02361756DFCC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19050" cap="flat" cmpd="sng" algn="ctr">
          <a:solidFill>
            <a:schemeClr val="accent1"/>
          </a:solidFill>
          <a:prstDash val="solid"/>
          <a:round/>
          <a:headEnd type="none" w="med" len="med"/>
          <a:tailEnd type="arrow" w="med" len="med"/>
        </a:ln>
      </dgm:spPr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7E6B8241-7CC7-064F-81F8-A8128775F7E4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 algn="ctr">
            <a:buFont typeface="+mj-lt"/>
            <a:buAutoNum type="alphaLcPeriod"/>
          </a:pPr>
          <a:r>
            <a:rPr lang="en-CA" sz="2000" dirty="0">
              <a:solidFill>
                <a:schemeClr val="tx1"/>
              </a:solidFill>
            </a:rPr>
            <a:t>Shannon Diversity Index (H')</a:t>
          </a:r>
        </a:p>
      </dgm:t>
    </dgm:pt>
    <dgm:pt modelId="{F3BC1002-181E-0E4F-BC18-80187C3C6B44}" type="parTrans" cxnId="{808ADBDD-10BB-9B49-9958-61759D800467}">
      <dgm:prSet/>
      <dgm:spPr/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BF656877-49CA-7543-870A-A9C95A5B8F14}" type="sibTrans" cxnId="{808ADBDD-10BB-9B49-9958-61759D800467}">
      <dgm:prSet/>
      <dgm:spPr/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417F44DC-E0E5-D54E-BAEE-7CE6A123A1BB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 algn="ctr">
            <a:buFont typeface="+mj-lt"/>
            <a:buAutoNum type="alphaLcPeriod"/>
          </a:pPr>
          <a:r>
            <a:rPr lang="en-CA" sz="2000" dirty="0">
              <a:solidFill>
                <a:schemeClr val="tx1"/>
              </a:solidFill>
            </a:rPr>
            <a:t>latitude midpoint</a:t>
          </a:r>
        </a:p>
      </dgm:t>
    </dgm:pt>
    <dgm:pt modelId="{2350C3C8-F4BA-C742-AE50-D94CDDEEA6C2}" type="parTrans" cxnId="{C60EC659-3AF9-294E-B9BB-6F047551EEEF}">
      <dgm:prSet/>
      <dgm:spPr/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131A93DB-571C-4C49-B4E8-BD9562AE4AF3}" type="sibTrans" cxnId="{C60EC659-3AF9-294E-B9BB-6F047551EEEF}">
      <dgm:prSet/>
      <dgm:spPr/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57D19CD9-150C-7F47-9F48-6E0A65820ED3}">
      <dgm:prSet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pPr algn="ctr">
            <a:buNone/>
          </a:pPr>
          <a:r>
            <a:rPr lang="en-CA" sz="2000" dirty="0">
              <a:solidFill>
                <a:schemeClr val="tx1"/>
              </a:solidFill>
            </a:rPr>
            <a:t>Merge datasets:</a:t>
          </a:r>
        </a:p>
      </dgm:t>
    </dgm:pt>
    <dgm:pt modelId="{9DAA2873-5D81-7641-A442-DA031301CBB5}" type="parTrans" cxnId="{F39A92C5-FB7C-8045-AA1A-AA60207E4B7E}">
      <dgm:prSet/>
      <dgm:spPr/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93C24AC9-D714-0040-931D-491970DA8A4E}" type="sibTrans" cxnId="{F39A92C5-FB7C-8045-AA1A-AA60207E4B7E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19050" cap="flat" cmpd="sng" algn="ctr">
          <a:solidFill>
            <a:schemeClr val="accent1"/>
          </a:solidFill>
          <a:prstDash val="solid"/>
          <a:round/>
          <a:headEnd type="none" w="med" len="med"/>
          <a:tailEnd type="arrow" w="med" len="med"/>
        </a:ln>
      </dgm:spPr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997670E9-049A-FD4D-825A-B4BA3B598D11}">
      <dgm:prSet custT="1"/>
      <dgm:spPr>
        <a:solidFill>
          <a:schemeClr val="accent5">
            <a:lumMod val="20000"/>
            <a:lumOff val="80000"/>
          </a:schemeClr>
        </a:solidFill>
        <a:ln>
          <a:noFill/>
        </a:ln>
      </dgm:spPr>
      <dgm:t>
        <a:bodyPr/>
        <a:lstStyle/>
        <a:p>
          <a:pPr algn="ctr">
            <a:buNone/>
          </a:pPr>
          <a:r>
            <a:rPr lang="en-CA" sz="2000" dirty="0">
              <a:solidFill>
                <a:schemeClr val="tx1"/>
              </a:solidFill>
            </a:rPr>
            <a:t>Generalized Additive Model &amp; Partial Effect Plots:</a:t>
          </a:r>
        </a:p>
      </dgm:t>
    </dgm:pt>
    <dgm:pt modelId="{ADC93357-C791-134D-875E-EDB2EB214DA8}" type="parTrans" cxnId="{ED8EC647-ECE8-9A4B-9235-7B95C799FD6A}">
      <dgm:prSet/>
      <dgm:spPr/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F7449D86-0A97-0049-B9AD-A9DC87734C6F}" type="sibTrans" cxnId="{ED8EC647-ECE8-9A4B-9235-7B95C799FD6A}">
      <dgm:prSet/>
      <dgm:spPr/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77148F4D-CB31-224E-AA0C-D184DCB61B54}">
      <dgm:prSet custT="1"/>
      <dgm:spPr>
        <a:solidFill>
          <a:schemeClr val="bg1">
            <a:lumMod val="85000"/>
          </a:schemeClr>
        </a:solidFill>
        <a:ln>
          <a:noFill/>
        </a:ln>
      </dgm:spPr>
      <dgm:t>
        <a:bodyPr/>
        <a:lstStyle/>
        <a:p>
          <a:pPr algn="ctr">
            <a:buFont typeface="Wingdings" pitchFamily="2" charset="2"/>
            <a:buChar char="Ø"/>
          </a:pPr>
          <a:r>
            <a:rPr lang="en-US" sz="2000" dirty="0">
              <a:solidFill>
                <a:schemeClr val="tx1"/>
              </a:solidFill>
            </a:rPr>
            <a:t>Parasitoid: </a:t>
          </a:r>
          <a:r>
            <a:rPr lang="en-US" sz="2000" dirty="0" err="1">
              <a:solidFill>
                <a:schemeClr val="tx1"/>
              </a:solidFill>
            </a:rPr>
            <a:t>Ichneumoninae</a:t>
          </a:r>
          <a:endParaRPr lang="en-US" sz="2000" dirty="0">
            <a:solidFill>
              <a:schemeClr val="tx1"/>
            </a:solidFill>
          </a:endParaRPr>
        </a:p>
      </dgm:t>
    </dgm:pt>
    <dgm:pt modelId="{570712F4-8BE8-6542-8AC7-468A17ADEC8A}" type="parTrans" cxnId="{6C98BED7-2F77-6F41-A75C-A85FA3423EDF}">
      <dgm:prSet/>
      <dgm:spPr/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B1144B0D-98DF-F042-9816-8CF22E0F689D}" type="sibTrans" cxnId="{6C98BED7-2F77-6F41-A75C-A85FA3423EDF}">
      <dgm:prSet/>
      <dgm:spPr/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791A9AFC-5ACB-B441-A696-A8954E489BFD}">
      <dgm:prSet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pPr algn="ctr">
            <a:buFont typeface="+mj-lt"/>
            <a:buAutoNum type="arabicPeriod"/>
          </a:pPr>
          <a:r>
            <a:rPr lang="en-CA" sz="2000" dirty="0">
              <a:solidFill>
                <a:schemeClr val="tx1"/>
              </a:solidFill>
            </a:rPr>
            <a:t>latitude vs parasitoid diversity</a:t>
          </a:r>
        </a:p>
      </dgm:t>
    </dgm:pt>
    <dgm:pt modelId="{00A47619-9418-2346-996A-AA685A31E94F}" type="parTrans" cxnId="{A0AE21D0-AE8B-174B-8690-64DBFA78CEF1}">
      <dgm:prSet/>
      <dgm:spPr/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2D0C6BE7-6134-1B40-8824-66C55BC2A873}" type="sibTrans" cxnId="{A0AE21D0-AE8B-174B-8690-64DBFA78CEF1}">
      <dgm:prSet/>
      <dgm:spPr/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D8F2998A-5F01-4A4B-9C73-52C0E712D6EF}">
      <dgm:prSet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pPr algn="ctr">
            <a:buFont typeface="+mj-lt"/>
            <a:buAutoNum type="arabicPeriod"/>
          </a:pPr>
          <a:r>
            <a:rPr lang="en-CA" sz="2000" dirty="0">
              <a:solidFill>
                <a:schemeClr val="tx1"/>
              </a:solidFill>
            </a:rPr>
            <a:t>latitude vs host diversity</a:t>
          </a:r>
        </a:p>
      </dgm:t>
    </dgm:pt>
    <dgm:pt modelId="{9FF199BA-B6C7-7048-B034-AD38C2E06E13}" type="parTrans" cxnId="{79690805-2707-954B-BA83-78C815C3A376}">
      <dgm:prSet/>
      <dgm:spPr/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3F885863-683B-0240-BED6-1773F93E170C}" type="sibTrans" cxnId="{79690805-2707-954B-BA83-78C815C3A376}">
      <dgm:prSet/>
      <dgm:spPr/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25EF2FE2-86AA-2443-A034-AC3D7BBE167D}">
      <dgm:prSet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pPr algn="ctr">
            <a:buFont typeface="+mj-lt"/>
            <a:buAutoNum type="romanLcPeriod"/>
          </a:pPr>
          <a:r>
            <a:rPr lang="en-CA" sz="2000" dirty="0">
              <a:solidFill>
                <a:schemeClr val="tx1"/>
              </a:solidFill>
            </a:rPr>
            <a:t>latitude midpoints</a:t>
          </a:r>
        </a:p>
      </dgm:t>
    </dgm:pt>
    <dgm:pt modelId="{CD503A0D-FF00-3741-A6A6-B3F14C6AB110}" type="parTrans" cxnId="{4546F3A5-36D1-0747-933D-335D829E9A40}">
      <dgm:prSet/>
      <dgm:spPr/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ABA6F920-D5E1-7547-B99E-2C7A86455689}" type="sibTrans" cxnId="{4546F3A5-36D1-0747-933D-335D829E9A40}">
      <dgm:prSet/>
      <dgm:spPr/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08A1C249-39C0-3C48-8B92-F8399D29986B}">
      <dgm:prSet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pPr algn="ctr">
            <a:buFont typeface="+mj-lt"/>
            <a:buAutoNum type="romanLcPeriod"/>
          </a:pPr>
          <a:r>
            <a:rPr lang="en-CA" sz="2000" dirty="0">
              <a:solidFill>
                <a:schemeClr val="tx1"/>
              </a:solidFill>
            </a:rPr>
            <a:t>parasitoid diversity (H')</a:t>
          </a:r>
        </a:p>
      </dgm:t>
    </dgm:pt>
    <dgm:pt modelId="{AB03F01F-8A26-5D48-A3F2-6E97F061EF8F}" type="parTrans" cxnId="{A7805C0C-9D22-8F47-96DB-01B7E186C103}">
      <dgm:prSet/>
      <dgm:spPr/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4BC66370-C6C4-B348-981F-E1FE97CE3913}" type="sibTrans" cxnId="{A7805C0C-9D22-8F47-96DB-01B7E186C103}">
      <dgm:prSet/>
      <dgm:spPr/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7CD304E0-F503-CE40-A89A-1E858EE0BBA2}">
      <dgm:prSet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pPr algn="ctr">
            <a:buFont typeface="+mj-lt"/>
            <a:buAutoNum type="romanLcPeriod"/>
          </a:pPr>
          <a:r>
            <a:rPr lang="en-CA" sz="2000" dirty="0">
              <a:solidFill>
                <a:schemeClr val="tx1"/>
              </a:solidFill>
            </a:rPr>
            <a:t>host diversity (H')</a:t>
          </a:r>
        </a:p>
      </dgm:t>
    </dgm:pt>
    <dgm:pt modelId="{568DF600-CDEC-0A42-AF34-D31D47AB68F6}" type="parTrans" cxnId="{598DBCB5-DF98-5549-AB7D-2C66CCFBF8C8}">
      <dgm:prSet/>
      <dgm:spPr/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431B0E00-CC34-D64E-A024-28FF1F6B8106}" type="sibTrans" cxnId="{598DBCB5-DF98-5549-AB7D-2C66CCFBF8C8}">
      <dgm:prSet/>
      <dgm:spPr/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88C6414D-A49D-0B45-998B-A8CBF12CAE4B}">
      <dgm:prSet custT="1"/>
      <dgm:spPr>
        <a:solidFill>
          <a:schemeClr val="accent5">
            <a:lumMod val="20000"/>
            <a:lumOff val="80000"/>
          </a:schemeClr>
        </a:solidFill>
        <a:ln>
          <a:noFill/>
        </a:ln>
      </dgm:spPr>
      <dgm:t>
        <a:bodyPr/>
        <a:lstStyle/>
        <a:p>
          <a:pPr algn="ctr">
            <a:buFont typeface="+mj-lt"/>
            <a:buNone/>
          </a:pPr>
          <a:r>
            <a:rPr lang="en-CA" sz="2000" dirty="0">
              <a:solidFill>
                <a:schemeClr val="tx1"/>
              </a:solidFill>
            </a:rPr>
            <a:t>3. latitude + host diversity vs parasitoid diversity</a:t>
          </a:r>
        </a:p>
      </dgm:t>
    </dgm:pt>
    <dgm:pt modelId="{9DDF3595-6FEE-B149-9B98-953D422F9579}" type="parTrans" cxnId="{B7F66993-6D9C-4642-923A-1EF3240B39A6}">
      <dgm:prSet/>
      <dgm:spPr/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988FFBC2-8319-3643-A397-F2ADE0E4F9D6}" type="sibTrans" cxnId="{B7F66993-6D9C-4642-923A-1EF3240B39A6}">
      <dgm:prSet/>
      <dgm:spPr/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F26166B6-DB81-4D48-BD88-D7386BE5A746}">
      <dgm:prSet custT="1"/>
      <dgm:spPr>
        <a:solidFill>
          <a:schemeClr val="bg1">
            <a:lumMod val="85000"/>
          </a:schemeClr>
        </a:solidFill>
        <a:ln>
          <a:noFill/>
        </a:ln>
      </dgm:spPr>
      <dgm:t>
        <a:bodyPr/>
        <a:lstStyle/>
        <a:p>
          <a:pPr algn="ctr">
            <a:buNone/>
          </a:pPr>
          <a:r>
            <a:rPr lang="en-CA" sz="2000" dirty="0">
              <a:solidFill>
                <a:schemeClr val="tx1"/>
              </a:solidFill>
            </a:rPr>
            <a:t>Retrieve Data via BOLD API:</a:t>
          </a:r>
        </a:p>
      </dgm:t>
    </dgm:pt>
    <dgm:pt modelId="{67451897-A0F4-394F-B648-4F76AC82271E}" type="sibTrans" cxnId="{5E2F478C-AAB6-4F4C-8A2D-6C377926EF47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dgm:style>
      </dgm:prSet>
      <dgm:spPr>
        <a:ln w="19050" cap="flat" cmpd="sng" algn="ctr">
          <a:solidFill>
            <a:schemeClr val="accent1"/>
          </a:solidFill>
          <a:prstDash val="solid"/>
          <a:round/>
          <a:headEnd type="none" w="med" len="med"/>
          <a:tailEnd type="arrow" w="med" len="med"/>
        </a:ln>
      </dgm:spPr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AC2C1513-1B2A-034C-989D-C14832236091}" type="parTrans" cxnId="{5E2F478C-AAB6-4F4C-8A2D-6C377926EF47}">
      <dgm:prSet/>
      <dgm:spPr/>
      <dgm:t>
        <a:bodyPr/>
        <a:lstStyle/>
        <a:p>
          <a:pPr algn="ctr"/>
          <a:endParaRPr lang="en-US">
            <a:solidFill>
              <a:schemeClr val="tx1"/>
            </a:solidFill>
          </a:endParaRPr>
        </a:p>
      </dgm:t>
    </dgm:pt>
    <dgm:pt modelId="{9B760200-19CD-AC41-8293-907AA18CD294}">
      <dgm:prSet custT="1"/>
      <dgm:spPr>
        <a:solidFill>
          <a:schemeClr val="bg1">
            <a:lumMod val="85000"/>
          </a:schemeClr>
        </a:solidFill>
        <a:ln>
          <a:noFill/>
        </a:ln>
      </dgm:spPr>
      <dgm:t>
        <a:bodyPr/>
        <a:lstStyle/>
        <a:p>
          <a:pPr algn="ctr">
            <a:buFont typeface="Wingdings" pitchFamily="2" charset="2"/>
            <a:buChar char="Ø"/>
          </a:pPr>
          <a:r>
            <a:rPr lang="en-US" sz="2000" dirty="0">
              <a:solidFill>
                <a:schemeClr val="tx1"/>
              </a:solidFill>
            </a:rPr>
            <a:t>Host: </a:t>
          </a:r>
          <a:r>
            <a:rPr lang="en-US" sz="2000" dirty="0" err="1">
              <a:solidFill>
                <a:schemeClr val="tx1"/>
              </a:solidFill>
            </a:rPr>
            <a:t>Heliconiinae|Danainae</a:t>
          </a:r>
          <a:endParaRPr lang="en-US" sz="2000" dirty="0">
            <a:solidFill>
              <a:schemeClr val="tx1"/>
            </a:solidFill>
          </a:endParaRPr>
        </a:p>
      </dgm:t>
    </dgm:pt>
    <dgm:pt modelId="{74FEA29E-C797-2741-AE12-F857DB057F49}" type="parTrans" cxnId="{107F3672-E93F-2C46-9C9F-9878D3EDEECB}">
      <dgm:prSet/>
      <dgm:spPr/>
      <dgm:t>
        <a:bodyPr/>
        <a:lstStyle/>
        <a:p>
          <a:endParaRPr lang="en-US"/>
        </a:p>
      </dgm:t>
    </dgm:pt>
    <dgm:pt modelId="{FAE21B53-E2EC-F045-B69D-0D09842C2E05}" type="sibTrans" cxnId="{107F3672-E93F-2C46-9C9F-9878D3EDEECB}">
      <dgm:prSet/>
      <dgm:spPr/>
      <dgm:t>
        <a:bodyPr/>
        <a:lstStyle/>
        <a:p>
          <a:endParaRPr lang="en-US"/>
        </a:p>
      </dgm:t>
    </dgm:pt>
    <dgm:pt modelId="{691FA54A-CDDB-B84E-A6CD-4320DA728038}">
      <dgm:prSet custT="1"/>
      <dgm:spPr>
        <a:solidFill>
          <a:srgbClr val="FFC328">
            <a:alpha val="65098"/>
          </a:srgbClr>
        </a:solidFill>
        <a:ln>
          <a:noFill/>
        </a:ln>
      </dgm:spPr>
      <dgm:t>
        <a:bodyPr/>
        <a:lstStyle/>
        <a:p>
          <a:pPr algn="ctr">
            <a:buFont typeface="Wingdings" pitchFamily="2" charset="2"/>
            <a:buChar char="Ø"/>
          </a:pPr>
          <a:r>
            <a:rPr lang="en-US" sz="2000" dirty="0">
              <a:solidFill>
                <a:schemeClr val="tx1"/>
              </a:solidFill>
            </a:rPr>
            <a:t>Parasitoid (n = 16586)</a:t>
          </a:r>
          <a:endParaRPr lang="en-CA" sz="2000" dirty="0">
            <a:solidFill>
              <a:schemeClr val="tx1"/>
            </a:solidFill>
          </a:endParaRPr>
        </a:p>
      </dgm:t>
    </dgm:pt>
    <dgm:pt modelId="{F4587288-9CDB-D04C-9F1A-FD4E4CF2FE88}" type="parTrans" cxnId="{4C95069C-6E4D-8E4C-AC89-CD0AE87BC063}">
      <dgm:prSet/>
      <dgm:spPr/>
      <dgm:t>
        <a:bodyPr/>
        <a:lstStyle/>
        <a:p>
          <a:endParaRPr lang="en-US"/>
        </a:p>
      </dgm:t>
    </dgm:pt>
    <dgm:pt modelId="{9324B0E5-74A9-F143-900E-95C097E92D53}" type="sibTrans" cxnId="{4C95069C-6E4D-8E4C-AC89-CD0AE87BC063}">
      <dgm:prSet/>
      <dgm:spPr/>
      <dgm:t>
        <a:bodyPr/>
        <a:lstStyle/>
        <a:p>
          <a:endParaRPr lang="en-US"/>
        </a:p>
      </dgm:t>
    </dgm:pt>
    <dgm:pt modelId="{F33DA3C3-60CB-F54F-9E89-D0DD6B4B32CF}">
      <dgm:prSet custT="1"/>
      <dgm:spPr>
        <a:solidFill>
          <a:srgbClr val="C2F2C8"/>
        </a:solidFill>
        <a:ln>
          <a:noFill/>
        </a:ln>
      </dgm:spPr>
      <dgm:t>
        <a:bodyPr/>
        <a:lstStyle/>
        <a:p>
          <a:pPr algn="ctr"/>
          <a:r>
            <a:rPr lang="en-CA" sz="2000" dirty="0">
              <a:solidFill>
                <a:schemeClr val="tx1"/>
              </a:solidFill>
            </a:rPr>
            <a:t>Organize data into 10</a:t>
          </a:r>
          <a:r>
            <a:rPr lang="en-US" sz="2000" dirty="0">
              <a:solidFill>
                <a:schemeClr val="tx1"/>
              </a:solidFill>
              <a:cs typeface="Arial" panose="020B0604020202020204" pitchFamily="34" charset="0"/>
            </a:rPr>
            <a:t>°</a:t>
          </a:r>
          <a:r>
            <a:rPr lang="en-CA" sz="2000" dirty="0">
              <a:solidFill>
                <a:schemeClr val="tx1"/>
              </a:solidFill>
            </a:rPr>
            <a:t> latitude bins:</a:t>
          </a:r>
        </a:p>
        <a:p>
          <a:pPr algn="ctr"/>
          <a:r>
            <a:rPr lang="en-CA" sz="2000" dirty="0">
              <a:solidFill>
                <a:schemeClr val="tx1"/>
              </a:solidFill>
            </a:rPr>
            <a:t>Overall range [-50</a:t>
          </a:r>
          <a:r>
            <a:rPr lang="en-US" sz="2000" dirty="0">
              <a:solidFill>
                <a:schemeClr val="tx1"/>
              </a:solidFill>
              <a:cs typeface="Arial" panose="020B0604020202020204" pitchFamily="34" charset="0"/>
            </a:rPr>
            <a:t>°</a:t>
          </a:r>
          <a:r>
            <a:rPr lang="en-CA" sz="2000" dirty="0">
              <a:solidFill>
                <a:schemeClr val="tx1"/>
              </a:solidFill>
            </a:rPr>
            <a:t>, 90</a:t>
          </a:r>
          <a:r>
            <a:rPr lang="en-US" sz="2000" dirty="0">
              <a:solidFill>
                <a:schemeClr val="tx1"/>
              </a:solidFill>
              <a:cs typeface="Arial" panose="020B0604020202020204" pitchFamily="34" charset="0"/>
            </a:rPr>
            <a:t>°</a:t>
          </a:r>
          <a:r>
            <a:rPr lang="en-CA" sz="2000" dirty="0">
              <a:solidFill>
                <a:schemeClr val="tx1"/>
              </a:solidFill>
            </a:rPr>
            <a:t>]</a:t>
          </a:r>
          <a:endParaRPr lang="en-US" sz="2000" dirty="0">
            <a:solidFill>
              <a:schemeClr val="tx1"/>
            </a:solidFill>
          </a:endParaRPr>
        </a:p>
      </dgm:t>
    </dgm:pt>
    <dgm:pt modelId="{B61A90ED-7FE2-9743-8EDE-EBA0584BB8AC}" type="parTrans" cxnId="{FD7EB545-1F06-3643-A06A-AA44D84887DD}">
      <dgm:prSet/>
      <dgm:spPr/>
      <dgm:t>
        <a:bodyPr/>
        <a:lstStyle/>
        <a:p>
          <a:endParaRPr lang="en-US"/>
        </a:p>
      </dgm:t>
    </dgm:pt>
    <dgm:pt modelId="{320A9519-2583-DB46-B5E6-8BF624ABCEB6}" type="sibTrans" cxnId="{FD7EB545-1F06-3643-A06A-AA44D84887DD}">
      <dgm:prSet/>
      <dgm:spPr>
        <a:ln w="19050">
          <a:solidFill>
            <a:schemeClr val="accent4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69371D0F-F000-9C45-BDBF-15AAC24BEC9A}">
      <dgm:prSet custScaleX="125806" custT="1"/>
      <dgm:spPr>
        <a:solidFill>
          <a:srgbClr val="FFC328">
            <a:alpha val="65098"/>
          </a:srgbClr>
        </a:solidFill>
        <a:ln>
          <a:noFill/>
        </a:ln>
      </dgm:spPr>
      <dgm:t>
        <a:bodyPr/>
        <a:lstStyle/>
        <a:p>
          <a:pPr algn="ctr">
            <a:buFont typeface="Wingdings" pitchFamily="2" charset="2"/>
            <a:buChar char="Ø"/>
          </a:pPr>
          <a:r>
            <a:rPr lang="en-US" sz="2000" dirty="0">
              <a:solidFill>
                <a:schemeClr val="tx1"/>
              </a:solidFill>
            </a:rPr>
            <a:t>Host (n = 10458)</a:t>
          </a:r>
          <a:endParaRPr lang="en-CA" sz="2000" dirty="0">
            <a:solidFill>
              <a:schemeClr val="tx1"/>
            </a:solidFill>
          </a:endParaRPr>
        </a:p>
      </dgm:t>
    </dgm:pt>
    <dgm:pt modelId="{DC54233A-DA5D-DB4D-B640-C00CBECE72E8}" type="parTrans" cxnId="{30CD1D12-3B8C-3145-A855-EE217BC2158E}">
      <dgm:prSet/>
      <dgm:spPr/>
      <dgm:t>
        <a:bodyPr/>
        <a:lstStyle/>
        <a:p>
          <a:endParaRPr lang="en-US"/>
        </a:p>
      </dgm:t>
    </dgm:pt>
    <dgm:pt modelId="{E8BC1424-954D-8945-AD8A-A7E504F00BDF}" type="sibTrans" cxnId="{30CD1D12-3B8C-3145-A855-EE217BC2158E}">
      <dgm:prSet/>
      <dgm:spPr/>
      <dgm:t>
        <a:bodyPr/>
        <a:lstStyle/>
        <a:p>
          <a:endParaRPr lang="en-US"/>
        </a:p>
      </dgm:t>
    </dgm:pt>
    <dgm:pt modelId="{4DBDC713-D3F6-1E44-B01D-C90CF6F471A0}" type="pres">
      <dgm:prSet presAssocID="{0A9BEA36-B491-E34A-A785-DFB829132D1C}" presName="Name0" presStyleCnt="0">
        <dgm:presLayoutVars>
          <dgm:dir/>
          <dgm:resizeHandles val="exact"/>
        </dgm:presLayoutVars>
      </dgm:prSet>
      <dgm:spPr/>
    </dgm:pt>
    <dgm:pt modelId="{BD97E84E-8C15-334D-89BD-85F14313AF83}" type="pres">
      <dgm:prSet presAssocID="{F26166B6-DB81-4D48-BD88-D7386BE5A746}" presName="node" presStyleLbl="node1" presStyleIdx="0" presStyleCnt="7" custScaleX="130573" custScaleY="86498">
        <dgm:presLayoutVars>
          <dgm:bulletEnabled val="1"/>
        </dgm:presLayoutVars>
      </dgm:prSet>
      <dgm:spPr/>
    </dgm:pt>
    <dgm:pt modelId="{26FB9D84-3A8B-4C48-ADF2-6309428710B6}" type="pres">
      <dgm:prSet presAssocID="{67451897-A0F4-394F-B648-4F76AC82271E}" presName="sibTrans" presStyleLbl="sibTrans1D1" presStyleIdx="0" presStyleCnt="6"/>
      <dgm:spPr/>
    </dgm:pt>
    <dgm:pt modelId="{38A10E91-0CB2-5047-B051-93969F02669F}" type="pres">
      <dgm:prSet presAssocID="{67451897-A0F4-394F-B648-4F76AC82271E}" presName="connectorText" presStyleLbl="sibTrans1D1" presStyleIdx="0" presStyleCnt="6"/>
      <dgm:spPr/>
    </dgm:pt>
    <dgm:pt modelId="{24FCA8DE-0AC5-1B4E-906A-5C125141D2A0}" type="pres">
      <dgm:prSet presAssocID="{3400D44E-C808-2347-BB24-17621810911F}" presName="node" presStyleLbl="node1" presStyleIdx="1" presStyleCnt="7" custScaleX="125806" custScaleY="78164">
        <dgm:presLayoutVars>
          <dgm:bulletEnabled val="1"/>
        </dgm:presLayoutVars>
      </dgm:prSet>
      <dgm:spPr/>
    </dgm:pt>
    <dgm:pt modelId="{9BFCFF3F-30F6-FA45-9AB6-795A16C6EF78}" type="pres">
      <dgm:prSet presAssocID="{0BFDF2B3-0187-3847-AA0D-B84482EAE5F6}" presName="sibTrans" presStyleLbl="sibTrans1D1" presStyleIdx="1" presStyleCnt="6"/>
      <dgm:spPr/>
    </dgm:pt>
    <dgm:pt modelId="{6C654724-81D4-4641-A16B-DA2C6BB0970D}" type="pres">
      <dgm:prSet presAssocID="{0BFDF2B3-0187-3847-AA0D-B84482EAE5F6}" presName="connectorText" presStyleLbl="sibTrans1D1" presStyleIdx="1" presStyleCnt="6"/>
      <dgm:spPr/>
    </dgm:pt>
    <dgm:pt modelId="{7E16AF33-883C-9547-8FDC-CDB18AA02317}" type="pres">
      <dgm:prSet presAssocID="{F33DA3C3-60CB-F54F-9E89-D0DD6B4B32CF}" presName="node" presStyleLbl="node1" presStyleIdx="2" presStyleCnt="7">
        <dgm:presLayoutVars>
          <dgm:bulletEnabled val="1"/>
        </dgm:presLayoutVars>
      </dgm:prSet>
      <dgm:spPr/>
    </dgm:pt>
    <dgm:pt modelId="{21D4ECD0-2619-DA4E-98B6-14168F637132}" type="pres">
      <dgm:prSet presAssocID="{320A9519-2583-DB46-B5E6-8BF624ABCEB6}" presName="sibTrans" presStyleLbl="sibTrans1D1" presStyleIdx="2" presStyleCnt="6"/>
      <dgm:spPr/>
    </dgm:pt>
    <dgm:pt modelId="{923D49AA-71AA-6B4C-BA7E-7488D2C2D013}" type="pres">
      <dgm:prSet presAssocID="{320A9519-2583-DB46-B5E6-8BF624ABCEB6}" presName="connectorText" presStyleLbl="sibTrans1D1" presStyleIdx="2" presStyleCnt="6"/>
      <dgm:spPr/>
    </dgm:pt>
    <dgm:pt modelId="{BDB4F158-B701-1746-B0D4-10088D8D9097}" type="pres">
      <dgm:prSet presAssocID="{A1197CCE-3552-084A-8F9C-7754F2C270B3}" presName="node" presStyleLbl="node1" presStyleIdx="3" presStyleCnt="7" custScaleX="134027" custScaleY="85408" custLinFactNeighborX="32599" custLinFactNeighborY="924">
        <dgm:presLayoutVars>
          <dgm:bulletEnabled val="1"/>
        </dgm:presLayoutVars>
      </dgm:prSet>
      <dgm:spPr/>
    </dgm:pt>
    <dgm:pt modelId="{D5DB0C18-D572-D441-A7A6-D999716CFFCC}" type="pres">
      <dgm:prSet presAssocID="{2F29E82A-81EF-DD4C-961D-B8159F8662DF}" presName="sibTrans" presStyleLbl="sibTrans1D1" presStyleIdx="3" presStyleCnt="6"/>
      <dgm:spPr/>
    </dgm:pt>
    <dgm:pt modelId="{04F161C9-D482-774B-AD92-70A6EBFED9C3}" type="pres">
      <dgm:prSet presAssocID="{2F29E82A-81EF-DD4C-961D-B8159F8662DF}" presName="connectorText" presStyleLbl="sibTrans1D1" presStyleIdx="3" presStyleCnt="6"/>
      <dgm:spPr/>
    </dgm:pt>
    <dgm:pt modelId="{DBBDD0F2-555F-C845-AD68-D2C3ACB8CBEB}" type="pres">
      <dgm:prSet presAssocID="{8002ACCD-810B-6E40-A088-0AFFDDCA22E4}" presName="node" presStyleLbl="node1" presStyleIdx="4" presStyleCnt="7" custScaleX="168052" custScaleY="83403" custLinFactNeighborX="54449" custLinFactNeighborY="924">
        <dgm:presLayoutVars>
          <dgm:bulletEnabled val="1"/>
        </dgm:presLayoutVars>
      </dgm:prSet>
      <dgm:spPr/>
    </dgm:pt>
    <dgm:pt modelId="{27FC4995-5BDB-514C-87B2-9BCBEE266A75}" type="pres">
      <dgm:prSet presAssocID="{34C88381-FF12-9E4C-B40F-7C1679E31830}" presName="sibTrans" presStyleLbl="sibTrans1D1" presStyleIdx="4" presStyleCnt="6"/>
      <dgm:spPr/>
    </dgm:pt>
    <dgm:pt modelId="{6A914402-3E14-A248-BA49-4EB09A14BA9B}" type="pres">
      <dgm:prSet presAssocID="{34C88381-FF12-9E4C-B40F-7C1679E31830}" presName="connectorText" presStyleLbl="sibTrans1D1" presStyleIdx="4" presStyleCnt="6"/>
      <dgm:spPr/>
    </dgm:pt>
    <dgm:pt modelId="{3A1A0E47-8B7F-0F4F-B4E7-9FEFA3E1C55E}" type="pres">
      <dgm:prSet presAssocID="{57D19CD9-150C-7F47-9F48-6E0A65820ED3}" presName="node" presStyleLbl="node1" presStyleIdx="5" presStyleCnt="7" custScaleX="120490" custLinFactNeighborX="60388" custLinFactNeighborY="-5652">
        <dgm:presLayoutVars>
          <dgm:bulletEnabled val="1"/>
        </dgm:presLayoutVars>
      </dgm:prSet>
      <dgm:spPr/>
    </dgm:pt>
    <dgm:pt modelId="{FA0DF076-6AFA-EC4C-9C00-2545DF22BE5E}" type="pres">
      <dgm:prSet presAssocID="{93C24AC9-D714-0040-931D-491970DA8A4E}" presName="sibTrans" presStyleLbl="sibTrans1D1" presStyleIdx="5" presStyleCnt="6"/>
      <dgm:spPr/>
    </dgm:pt>
    <dgm:pt modelId="{C62277CC-32C2-2F43-B7B5-F7158E86A901}" type="pres">
      <dgm:prSet presAssocID="{93C24AC9-D714-0040-931D-491970DA8A4E}" presName="connectorText" presStyleLbl="sibTrans1D1" presStyleIdx="5" presStyleCnt="6"/>
      <dgm:spPr/>
    </dgm:pt>
    <dgm:pt modelId="{528912BB-64F5-FE4A-8BAE-B04EC35551F8}" type="pres">
      <dgm:prSet presAssocID="{997670E9-049A-FD4D-825A-B4BA3B598D11}" presName="node" presStyleLbl="node1" presStyleIdx="6" presStyleCnt="7" custScaleX="195175" custScaleY="60255" custLinFactNeighborX="60920" custLinFactNeighborY="-5657">
        <dgm:presLayoutVars>
          <dgm:bulletEnabled val="1"/>
        </dgm:presLayoutVars>
      </dgm:prSet>
      <dgm:spPr/>
    </dgm:pt>
  </dgm:ptLst>
  <dgm:cxnLst>
    <dgm:cxn modelId="{79690805-2707-954B-BA83-78C815C3A376}" srcId="{8002ACCD-810B-6E40-A088-0AFFDDCA22E4}" destId="{D8F2998A-5F01-4A4B-9C73-52C0E712D6EF}" srcOrd="1" destOrd="0" parTransId="{9FF199BA-B6C7-7048-B034-AD38C2E06E13}" sibTransId="{3F885863-683B-0240-BED6-1773F93E170C}"/>
    <dgm:cxn modelId="{A7805C0C-9D22-8F47-96DB-01B7E186C103}" srcId="{57D19CD9-150C-7F47-9F48-6E0A65820ED3}" destId="{08A1C249-39C0-3C48-8B92-F8399D29986B}" srcOrd="1" destOrd="0" parTransId="{AB03F01F-8A26-5D48-A3F2-6E97F061EF8F}" sibTransId="{4BC66370-C6C4-B348-981F-E1FE97CE3913}"/>
    <dgm:cxn modelId="{30CD1D12-3B8C-3145-A855-EE217BC2158E}" srcId="{3400D44E-C808-2347-BB24-17621810911F}" destId="{69371D0F-F000-9C45-BDBF-15AAC24BEC9A}" srcOrd="1" destOrd="0" parTransId="{DC54233A-DA5D-DB4D-B640-C00CBECE72E8}" sibTransId="{E8BC1424-954D-8945-AD8A-A7E504F00BDF}"/>
    <dgm:cxn modelId="{3EB3D717-6F72-A84A-A38C-B3A431DC032B}" type="presOf" srcId="{25EF2FE2-86AA-2443-A034-AC3D7BBE167D}" destId="{3A1A0E47-8B7F-0F4F-B4E7-9FEFA3E1C55E}" srcOrd="0" destOrd="1" presId="urn:microsoft.com/office/officeart/2005/8/layout/bProcess3"/>
    <dgm:cxn modelId="{E113381A-67D3-6144-9835-CC2F191AE7D9}" type="presOf" srcId="{2F29E82A-81EF-DD4C-961D-B8159F8662DF}" destId="{D5DB0C18-D572-D441-A7A6-D999716CFFCC}" srcOrd="0" destOrd="0" presId="urn:microsoft.com/office/officeart/2005/8/layout/bProcess3"/>
    <dgm:cxn modelId="{0986CF1F-F5B7-B24B-87CD-EA901F8FD0C5}" type="presOf" srcId="{0A9BEA36-B491-E34A-A785-DFB829132D1C}" destId="{4DBDC713-D3F6-1E44-B01D-C90CF6F471A0}" srcOrd="0" destOrd="0" presId="urn:microsoft.com/office/officeart/2005/8/layout/bProcess3"/>
    <dgm:cxn modelId="{B8FE5B29-A761-4C4C-9015-44D7571ACD5C}" type="presOf" srcId="{691FA54A-CDDB-B84E-A6CD-4320DA728038}" destId="{24FCA8DE-0AC5-1B4E-906A-5C125141D2A0}" srcOrd="0" destOrd="1" presId="urn:microsoft.com/office/officeart/2005/8/layout/bProcess3"/>
    <dgm:cxn modelId="{F2348838-642A-1F4E-BC64-2BED06EE44AA}" type="presOf" srcId="{34C88381-FF12-9E4C-B40F-7C1679E31830}" destId="{27FC4995-5BDB-514C-87B2-9BCBEE266A75}" srcOrd="0" destOrd="0" presId="urn:microsoft.com/office/officeart/2005/8/layout/bProcess3"/>
    <dgm:cxn modelId="{F4A2DF3A-9676-7648-B89C-77009F3133E7}" type="presOf" srcId="{7E6B8241-7CC7-064F-81F8-A8128775F7E4}" destId="{BDB4F158-B701-1746-B0D4-10088D8D9097}" srcOrd="0" destOrd="1" presId="urn:microsoft.com/office/officeart/2005/8/layout/bProcess3"/>
    <dgm:cxn modelId="{54558142-3BC0-1D41-8883-3D71CCD784DE}" type="presOf" srcId="{F33DA3C3-60CB-F54F-9E89-D0DD6B4B32CF}" destId="{7E16AF33-883C-9547-8FDC-CDB18AA02317}" srcOrd="0" destOrd="0" presId="urn:microsoft.com/office/officeart/2005/8/layout/bProcess3"/>
    <dgm:cxn modelId="{53F00743-C426-E44B-B788-F1B7FB233482}" type="presOf" srcId="{3400D44E-C808-2347-BB24-17621810911F}" destId="{24FCA8DE-0AC5-1B4E-906A-5C125141D2A0}" srcOrd="0" destOrd="0" presId="urn:microsoft.com/office/officeart/2005/8/layout/bProcess3"/>
    <dgm:cxn modelId="{FD7EB545-1F06-3643-A06A-AA44D84887DD}" srcId="{0A9BEA36-B491-E34A-A785-DFB829132D1C}" destId="{F33DA3C3-60CB-F54F-9E89-D0DD6B4B32CF}" srcOrd="2" destOrd="0" parTransId="{B61A90ED-7FE2-9743-8EDE-EBA0584BB8AC}" sibTransId="{320A9519-2583-DB46-B5E6-8BF624ABCEB6}"/>
    <dgm:cxn modelId="{C8106D46-C63D-464D-B294-1138BCE74506}" type="presOf" srcId="{F26166B6-DB81-4D48-BD88-D7386BE5A746}" destId="{BD97E84E-8C15-334D-89BD-85F14313AF83}" srcOrd="0" destOrd="0" presId="urn:microsoft.com/office/officeart/2005/8/layout/bProcess3"/>
    <dgm:cxn modelId="{ED8EC647-ECE8-9A4B-9235-7B95C799FD6A}" srcId="{0A9BEA36-B491-E34A-A785-DFB829132D1C}" destId="{997670E9-049A-FD4D-825A-B4BA3B598D11}" srcOrd="6" destOrd="0" parTransId="{ADC93357-C791-134D-875E-EDB2EB214DA8}" sibTransId="{F7449D86-0A97-0049-B9AD-A9DC87734C6F}"/>
    <dgm:cxn modelId="{5C095D4A-78C7-AE4A-8BBA-726DE4E7D330}" type="presOf" srcId="{997670E9-049A-FD4D-825A-B4BA3B598D11}" destId="{528912BB-64F5-FE4A-8BAE-B04EC35551F8}" srcOrd="0" destOrd="0" presId="urn:microsoft.com/office/officeart/2005/8/layout/bProcess3"/>
    <dgm:cxn modelId="{71B7E254-D77E-EB4A-A165-997B35129A03}" type="presOf" srcId="{77148F4D-CB31-224E-AA0C-D184DCB61B54}" destId="{BD97E84E-8C15-334D-89BD-85F14313AF83}" srcOrd="0" destOrd="1" presId="urn:microsoft.com/office/officeart/2005/8/layout/bProcess3"/>
    <dgm:cxn modelId="{414D4655-32F9-554C-8B8A-42041AF4AE2D}" srcId="{0A9BEA36-B491-E34A-A785-DFB829132D1C}" destId="{8002ACCD-810B-6E40-A088-0AFFDDCA22E4}" srcOrd="4" destOrd="0" parTransId="{8CB431F0-EF40-0E4F-8C3A-B425FB78D2A7}" sibTransId="{34C88381-FF12-9E4C-B40F-7C1679E31830}"/>
    <dgm:cxn modelId="{C60EC659-3AF9-294E-B9BB-6F047551EEEF}" srcId="{A1197CCE-3552-084A-8F9C-7754F2C270B3}" destId="{417F44DC-E0E5-D54E-BAEE-7CE6A123A1BB}" srcOrd="1" destOrd="0" parTransId="{2350C3C8-F4BA-C742-AE50-D94CDDEEA6C2}" sibTransId="{131A93DB-571C-4C49-B4E8-BD9562AE4AF3}"/>
    <dgm:cxn modelId="{3088656A-442D-8047-AD9C-8A2B99CF9ED7}" type="presOf" srcId="{417F44DC-E0E5-D54E-BAEE-7CE6A123A1BB}" destId="{BDB4F158-B701-1746-B0D4-10088D8D9097}" srcOrd="0" destOrd="2" presId="urn:microsoft.com/office/officeart/2005/8/layout/bProcess3"/>
    <dgm:cxn modelId="{107F3672-E93F-2C46-9C9F-9878D3EDEECB}" srcId="{F26166B6-DB81-4D48-BD88-D7386BE5A746}" destId="{9B760200-19CD-AC41-8293-907AA18CD294}" srcOrd="1" destOrd="0" parTransId="{74FEA29E-C797-2741-AE12-F857DB057F49}" sibTransId="{FAE21B53-E2EC-F045-B69D-0D09842C2E05}"/>
    <dgm:cxn modelId="{8004EF74-D962-EB43-AAA9-3923C6536AA2}" type="presOf" srcId="{2F29E82A-81EF-DD4C-961D-B8159F8662DF}" destId="{04F161C9-D482-774B-AD92-70A6EBFED9C3}" srcOrd="1" destOrd="0" presId="urn:microsoft.com/office/officeart/2005/8/layout/bProcess3"/>
    <dgm:cxn modelId="{584E9277-C6E2-4D42-83DC-8B70B5B1A1E4}" type="presOf" srcId="{8002ACCD-810B-6E40-A088-0AFFDDCA22E4}" destId="{DBBDD0F2-555F-C845-AD68-D2C3ACB8CBEB}" srcOrd="0" destOrd="0" presId="urn:microsoft.com/office/officeart/2005/8/layout/bProcess3"/>
    <dgm:cxn modelId="{B5DA4079-B038-D74A-8F99-64D099CED926}" type="presOf" srcId="{320A9519-2583-DB46-B5E6-8BF624ABCEB6}" destId="{923D49AA-71AA-6B4C-BA7E-7488D2C2D013}" srcOrd="1" destOrd="0" presId="urn:microsoft.com/office/officeart/2005/8/layout/bProcess3"/>
    <dgm:cxn modelId="{D322AD8B-472F-B347-A22C-370C1FB45C7E}" type="presOf" srcId="{320A9519-2583-DB46-B5E6-8BF624ABCEB6}" destId="{21D4ECD0-2619-DA4E-98B6-14168F637132}" srcOrd="0" destOrd="0" presId="urn:microsoft.com/office/officeart/2005/8/layout/bProcess3"/>
    <dgm:cxn modelId="{5E2F478C-AAB6-4F4C-8A2D-6C377926EF47}" srcId="{0A9BEA36-B491-E34A-A785-DFB829132D1C}" destId="{F26166B6-DB81-4D48-BD88-D7386BE5A746}" srcOrd="0" destOrd="0" parTransId="{AC2C1513-1B2A-034C-989D-C14832236091}" sibTransId="{67451897-A0F4-394F-B648-4F76AC82271E}"/>
    <dgm:cxn modelId="{F0BFC78C-4FF6-BF45-84F9-BBDF8BBD1B8D}" type="presOf" srcId="{9B760200-19CD-AC41-8293-907AA18CD294}" destId="{BD97E84E-8C15-334D-89BD-85F14313AF83}" srcOrd="0" destOrd="2" presId="urn:microsoft.com/office/officeart/2005/8/layout/bProcess3"/>
    <dgm:cxn modelId="{B7F66993-6D9C-4642-923A-1EF3240B39A6}" srcId="{997670E9-049A-FD4D-825A-B4BA3B598D11}" destId="{88C6414D-A49D-0B45-998B-A8CBF12CAE4B}" srcOrd="0" destOrd="0" parTransId="{9DDF3595-6FEE-B149-9B98-953D422F9579}" sibTransId="{988FFBC2-8319-3643-A397-F2ADE0E4F9D6}"/>
    <dgm:cxn modelId="{ADE5699A-07B8-964F-A7BA-D9B658C3E36F}" type="presOf" srcId="{93C24AC9-D714-0040-931D-491970DA8A4E}" destId="{C62277CC-32C2-2F43-B7B5-F7158E86A901}" srcOrd="1" destOrd="0" presId="urn:microsoft.com/office/officeart/2005/8/layout/bProcess3"/>
    <dgm:cxn modelId="{4C95069C-6E4D-8E4C-AC89-CD0AE87BC063}" srcId="{3400D44E-C808-2347-BB24-17621810911F}" destId="{691FA54A-CDDB-B84E-A6CD-4320DA728038}" srcOrd="0" destOrd="0" parTransId="{F4587288-9CDB-D04C-9F1A-FD4E4CF2FE88}" sibTransId="{9324B0E5-74A9-F143-900E-95C097E92D53}"/>
    <dgm:cxn modelId="{B56F969D-C8B9-AF45-816B-ABBE0F94F035}" type="presOf" srcId="{67451897-A0F4-394F-B648-4F76AC82271E}" destId="{38A10E91-0CB2-5047-B051-93969F02669F}" srcOrd="1" destOrd="0" presId="urn:microsoft.com/office/officeart/2005/8/layout/bProcess3"/>
    <dgm:cxn modelId="{B45A079F-E574-9B48-8E31-80A1482F2F59}" srcId="{0A9BEA36-B491-E34A-A785-DFB829132D1C}" destId="{3400D44E-C808-2347-BB24-17621810911F}" srcOrd="1" destOrd="0" parTransId="{58A280F2-3C69-8F46-BADC-00DB1889A771}" sibTransId="{0BFDF2B3-0187-3847-AA0D-B84482EAE5F6}"/>
    <dgm:cxn modelId="{4546F3A5-36D1-0747-933D-335D829E9A40}" srcId="{57D19CD9-150C-7F47-9F48-6E0A65820ED3}" destId="{25EF2FE2-86AA-2443-A034-AC3D7BBE167D}" srcOrd="0" destOrd="0" parTransId="{CD503A0D-FF00-3741-A6A6-B3F14C6AB110}" sibTransId="{ABA6F920-D5E1-7547-B99E-2C7A86455689}"/>
    <dgm:cxn modelId="{93D1D7AF-AF6C-6341-961F-2FFBE731A2BA}" type="presOf" srcId="{7CD304E0-F503-CE40-A89A-1E858EE0BBA2}" destId="{3A1A0E47-8B7F-0F4F-B4E7-9FEFA3E1C55E}" srcOrd="0" destOrd="3" presId="urn:microsoft.com/office/officeart/2005/8/layout/bProcess3"/>
    <dgm:cxn modelId="{6D9683B3-C770-0D48-B517-FC375B7CC9A9}" type="presOf" srcId="{08A1C249-39C0-3C48-8B92-F8399D29986B}" destId="{3A1A0E47-8B7F-0F4F-B4E7-9FEFA3E1C55E}" srcOrd="0" destOrd="2" presId="urn:microsoft.com/office/officeart/2005/8/layout/bProcess3"/>
    <dgm:cxn modelId="{598DBCB5-DF98-5549-AB7D-2C66CCFBF8C8}" srcId="{57D19CD9-150C-7F47-9F48-6E0A65820ED3}" destId="{7CD304E0-F503-CE40-A89A-1E858EE0BBA2}" srcOrd="2" destOrd="0" parTransId="{568DF600-CDEC-0A42-AF34-D31D47AB68F6}" sibTransId="{431B0E00-CC34-D64E-A024-28FF1F6B8106}"/>
    <dgm:cxn modelId="{377560B9-2C8B-B741-9F73-F631082EDA97}" type="presOf" srcId="{67451897-A0F4-394F-B648-4F76AC82271E}" destId="{26FB9D84-3A8B-4C48-ADF2-6309428710B6}" srcOrd="0" destOrd="0" presId="urn:microsoft.com/office/officeart/2005/8/layout/bProcess3"/>
    <dgm:cxn modelId="{4BD9B8BE-348E-134D-BF01-22A6E2F935BB}" type="presOf" srcId="{69371D0F-F000-9C45-BDBF-15AAC24BEC9A}" destId="{24FCA8DE-0AC5-1B4E-906A-5C125141D2A0}" srcOrd="0" destOrd="2" presId="urn:microsoft.com/office/officeart/2005/8/layout/bProcess3"/>
    <dgm:cxn modelId="{F39A92C5-FB7C-8045-AA1A-AA60207E4B7E}" srcId="{0A9BEA36-B491-E34A-A785-DFB829132D1C}" destId="{57D19CD9-150C-7F47-9F48-6E0A65820ED3}" srcOrd="5" destOrd="0" parTransId="{9DAA2873-5D81-7641-A442-DA031301CBB5}" sibTransId="{93C24AC9-D714-0040-931D-491970DA8A4E}"/>
    <dgm:cxn modelId="{574487CB-9928-7942-864B-6919978F33B5}" type="presOf" srcId="{57D19CD9-150C-7F47-9F48-6E0A65820ED3}" destId="{3A1A0E47-8B7F-0F4F-B4E7-9FEFA3E1C55E}" srcOrd="0" destOrd="0" presId="urn:microsoft.com/office/officeart/2005/8/layout/bProcess3"/>
    <dgm:cxn modelId="{408E9ECE-A7E9-4C42-82B4-EB76555D1013}" type="presOf" srcId="{0BFDF2B3-0187-3847-AA0D-B84482EAE5F6}" destId="{9BFCFF3F-30F6-FA45-9AB6-795A16C6EF78}" srcOrd="0" destOrd="0" presId="urn:microsoft.com/office/officeart/2005/8/layout/bProcess3"/>
    <dgm:cxn modelId="{A0AE21D0-AE8B-174B-8690-64DBFA78CEF1}" srcId="{8002ACCD-810B-6E40-A088-0AFFDDCA22E4}" destId="{791A9AFC-5ACB-B441-A696-A8954E489BFD}" srcOrd="0" destOrd="0" parTransId="{00A47619-9418-2346-996A-AA685A31E94F}" sibTransId="{2D0C6BE7-6134-1B40-8824-66C55BC2A873}"/>
    <dgm:cxn modelId="{2C51DCD1-F720-5D4E-98B3-23CD6C90BB4F}" type="presOf" srcId="{88C6414D-A49D-0B45-998B-A8CBF12CAE4B}" destId="{528912BB-64F5-FE4A-8BAE-B04EC35551F8}" srcOrd="0" destOrd="1" presId="urn:microsoft.com/office/officeart/2005/8/layout/bProcess3"/>
    <dgm:cxn modelId="{00E746D3-D2D9-BF49-964E-369D7EE86AE7}" type="presOf" srcId="{D8F2998A-5F01-4A4B-9C73-52C0E712D6EF}" destId="{DBBDD0F2-555F-C845-AD68-D2C3ACB8CBEB}" srcOrd="0" destOrd="2" presId="urn:microsoft.com/office/officeart/2005/8/layout/bProcess3"/>
    <dgm:cxn modelId="{AE4259D3-F87A-C642-99B6-F1EAA95B744D}" type="presOf" srcId="{0BFDF2B3-0187-3847-AA0D-B84482EAE5F6}" destId="{6C654724-81D4-4641-A16B-DA2C6BB0970D}" srcOrd="1" destOrd="0" presId="urn:microsoft.com/office/officeart/2005/8/layout/bProcess3"/>
    <dgm:cxn modelId="{A13AE7D6-3C45-0141-BB3B-02361756DFCC}" srcId="{0A9BEA36-B491-E34A-A785-DFB829132D1C}" destId="{A1197CCE-3552-084A-8F9C-7754F2C270B3}" srcOrd="3" destOrd="0" parTransId="{892ECD1B-C399-4E48-A1D9-0738557F457E}" sibTransId="{2F29E82A-81EF-DD4C-961D-B8159F8662DF}"/>
    <dgm:cxn modelId="{B00267D7-FC3D-2946-95C2-0E8F4BE65A0F}" type="presOf" srcId="{791A9AFC-5ACB-B441-A696-A8954E489BFD}" destId="{DBBDD0F2-555F-C845-AD68-D2C3ACB8CBEB}" srcOrd="0" destOrd="1" presId="urn:microsoft.com/office/officeart/2005/8/layout/bProcess3"/>
    <dgm:cxn modelId="{6C98BED7-2F77-6F41-A75C-A85FA3423EDF}" srcId="{F26166B6-DB81-4D48-BD88-D7386BE5A746}" destId="{77148F4D-CB31-224E-AA0C-D184DCB61B54}" srcOrd="0" destOrd="0" parTransId="{570712F4-8BE8-6542-8AC7-468A17ADEC8A}" sibTransId="{B1144B0D-98DF-F042-9816-8CF22E0F689D}"/>
    <dgm:cxn modelId="{808ADBDD-10BB-9B49-9958-61759D800467}" srcId="{A1197CCE-3552-084A-8F9C-7754F2C270B3}" destId="{7E6B8241-7CC7-064F-81F8-A8128775F7E4}" srcOrd="0" destOrd="0" parTransId="{F3BC1002-181E-0E4F-BC18-80187C3C6B44}" sibTransId="{BF656877-49CA-7543-870A-A9C95A5B8F14}"/>
    <dgm:cxn modelId="{EA1A80DF-D4D3-6A48-9F76-239867662974}" type="presOf" srcId="{93C24AC9-D714-0040-931D-491970DA8A4E}" destId="{FA0DF076-6AFA-EC4C-9C00-2545DF22BE5E}" srcOrd="0" destOrd="0" presId="urn:microsoft.com/office/officeart/2005/8/layout/bProcess3"/>
    <dgm:cxn modelId="{B5EABEE7-15ED-774E-9E19-410DA9DA0537}" type="presOf" srcId="{A1197CCE-3552-084A-8F9C-7754F2C270B3}" destId="{BDB4F158-B701-1746-B0D4-10088D8D9097}" srcOrd="0" destOrd="0" presId="urn:microsoft.com/office/officeart/2005/8/layout/bProcess3"/>
    <dgm:cxn modelId="{4BEF14FE-C2D1-8D49-98EC-DA950AC64C6E}" type="presOf" srcId="{34C88381-FF12-9E4C-B40F-7C1679E31830}" destId="{6A914402-3E14-A248-BA49-4EB09A14BA9B}" srcOrd="1" destOrd="0" presId="urn:microsoft.com/office/officeart/2005/8/layout/bProcess3"/>
    <dgm:cxn modelId="{58BC460A-4A31-3445-BFBF-391F14D86BAD}" type="presParOf" srcId="{4DBDC713-D3F6-1E44-B01D-C90CF6F471A0}" destId="{BD97E84E-8C15-334D-89BD-85F14313AF83}" srcOrd="0" destOrd="0" presId="urn:microsoft.com/office/officeart/2005/8/layout/bProcess3"/>
    <dgm:cxn modelId="{AA33F897-6AA4-DE40-8353-5778B435EA43}" type="presParOf" srcId="{4DBDC713-D3F6-1E44-B01D-C90CF6F471A0}" destId="{26FB9D84-3A8B-4C48-ADF2-6309428710B6}" srcOrd="1" destOrd="0" presId="urn:microsoft.com/office/officeart/2005/8/layout/bProcess3"/>
    <dgm:cxn modelId="{13408FF5-B90F-A142-B2DC-1B7BAFB509F1}" type="presParOf" srcId="{26FB9D84-3A8B-4C48-ADF2-6309428710B6}" destId="{38A10E91-0CB2-5047-B051-93969F02669F}" srcOrd="0" destOrd="0" presId="urn:microsoft.com/office/officeart/2005/8/layout/bProcess3"/>
    <dgm:cxn modelId="{DA32B5E5-F5E1-2440-AA55-E934AD50908D}" type="presParOf" srcId="{4DBDC713-D3F6-1E44-B01D-C90CF6F471A0}" destId="{24FCA8DE-0AC5-1B4E-906A-5C125141D2A0}" srcOrd="2" destOrd="0" presId="urn:microsoft.com/office/officeart/2005/8/layout/bProcess3"/>
    <dgm:cxn modelId="{EB4392C2-2282-8949-9ED2-7136A98D258C}" type="presParOf" srcId="{4DBDC713-D3F6-1E44-B01D-C90CF6F471A0}" destId="{9BFCFF3F-30F6-FA45-9AB6-795A16C6EF78}" srcOrd="3" destOrd="0" presId="urn:microsoft.com/office/officeart/2005/8/layout/bProcess3"/>
    <dgm:cxn modelId="{BE2A5768-A2DD-3645-BD14-73AB24F5165C}" type="presParOf" srcId="{9BFCFF3F-30F6-FA45-9AB6-795A16C6EF78}" destId="{6C654724-81D4-4641-A16B-DA2C6BB0970D}" srcOrd="0" destOrd="0" presId="urn:microsoft.com/office/officeart/2005/8/layout/bProcess3"/>
    <dgm:cxn modelId="{CCFE80A7-D875-3743-B285-567DE76D6357}" type="presParOf" srcId="{4DBDC713-D3F6-1E44-B01D-C90CF6F471A0}" destId="{7E16AF33-883C-9547-8FDC-CDB18AA02317}" srcOrd="4" destOrd="0" presId="urn:microsoft.com/office/officeart/2005/8/layout/bProcess3"/>
    <dgm:cxn modelId="{CB821B03-13B4-6C44-B6B1-C1256EEE672A}" type="presParOf" srcId="{4DBDC713-D3F6-1E44-B01D-C90CF6F471A0}" destId="{21D4ECD0-2619-DA4E-98B6-14168F637132}" srcOrd="5" destOrd="0" presId="urn:microsoft.com/office/officeart/2005/8/layout/bProcess3"/>
    <dgm:cxn modelId="{9AA07D42-C057-4445-AD2F-46CCF0EE3375}" type="presParOf" srcId="{21D4ECD0-2619-DA4E-98B6-14168F637132}" destId="{923D49AA-71AA-6B4C-BA7E-7488D2C2D013}" srcOrd="0" destOrd="0" presId="urn:microsoft.com/office/officeart/2005/8/layout/bProcess3"/>
    <dgm:cxn modelId="{B734A47D-8262-1C47-8273-39F050BFF9A4}" type="presParOf" srcId="{4DBDC713-D3F6-1E44-B01D-C90CF6F471A0}" destId="{BDB4F158-B701-1746-B0D4-10088D8D9097}" srcOrd="6" destOrd="0" presId="urn:microsoft.com/office/officeart/2005/8/layout/bProcess3"/>
    <dgm:cxn modelId="{AA8F2CAE-E805-1B47-95BF-EBEE7C8D9689}" type="presParOf" srcId="{4DBDC713-D3F6-1E44-B01D-C90CF6F471A0}" destId="{D5DB0C18-D572-D441-A7A6-D999716CFFCC}" srcOrd="7" destOrd="0" presId="urn:microsoft.com/office/officeart/2005/8/layout/bProcess3"/>
    <dgm:cxn modelId="{AF834541-8C67-3341-BF32-BB37FA152805}" type="presParOf" srcId="{D5DB0C18-D572-D441-A7A6-D999716CFFCC}" destId="{04F161C9-D482-774B-AD92-70A6EBFED9C3}" srcOrd="0" destOrd="0" presId="urn:microsoft.com/office/officeart/2005/8/layout/bProcess3"/>
    <dgm:cxn modelId="{77ED53D5-91E4-ED4C-8159-5FC4931FCD54}" type="presParOf" srcId="{4DBDC713-D3F6-1E44-B01D-C90CF6F471A0}" destId="{DBBDD0F2-555F-C845-AD68-D2C3ACB8CBEB}" srcOrd="8" destOrd="0" presId="urn:microsoft.com/office/officeart/2005/8/layout/bProcess3"/>
    <dgm:cxn modelId="{CB92FAC9-B32B-B342-B6F4-1483A245583F}" type="presParOf" srcId="{4DBDC713-D3F6-1E44-B01D-C90CF6F471A0}" destId="{27FC4995-5BDB-514C-87B2-9BCBEE266A75}" srcOrd="9" destOrd="0" presId="urn:microsoft.com/office/officeart/2005/8/layout/bProcess3"/>
    <dgm:cxn modelId="{0C6CBE15-3197-9D44-B053-6A2F9A0D170A}" type="presParOf" srcId="{27FC4995-5BDB-514C-87B2-9BCBEE266A75}" destId="{6A914402-3E14-A248-BA49-4EB09A14BA9B}" srcOrd="0" destOrd="0" presId="urn:microsoft.com/office/officeart/2005/8/layout/bProcess3"/>
    <dgm:cxn modelId="{9F39E42F-43CD-114B-844A-70B6C878A21E}" type="presParOf" srcId="{4DBDC713-D3F6-1E44-B01D-C90CF6F471A0}" destId="{3A1A0E47-8B7F-0F4F-B4E7-9FEFA3E1C55E}" srcOrd="10" destOrd="0" presId="urn:microsoft.com/office/officeart/2005/8/layout/bProcess3"/>
    <dgm:cxn modelId="{88C9CBB7-366D-2744-9BC8-3D47B35D84E5}" type="presParOf" srcId="{4DBDC713-D3F6-1E44-B01D-C90CF6F471A0}" destId="{FA0DF076-6AFA-EC4C-9C00-2545DF22BE5E}" srcOrd="11" destOrd="0" presId="urn:microsoft.com/office/officeart/2005/8/layout/bProcess3"/>
    <dgm:cxn modelId="{CA351A24-69C7-F44A-82FA-8BD68AE1ACA1}" type="presParOf" srcId="{FA0DF076-6AFA-EC4C-9C00-2545DF22BE5E}" destId="{C62277CC-32C2-2F43-B7B5-F7158E86A901}" srcOrd="0" destOrd="0" presId="urn:microsoft.com/office/officeart/2005/8/layout/bProcess3"/>
    <dgm:cxn modelId="{D830C3BF-214F-B849-B98D-4C9FF1DBA2D9}" type="presParOf" srcId="{4DBDC713-D3F6-1E44-B01D-C90CF6F471A0}" destId="{528912BB-64F5-FE4A-8BAE-B04EC35551F8}" srcOrd="12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FB9D84-3A8B-4C48-ADF2-6309428710B6}">
      <dsp:nvSpPr>
        <dsp:cNvPr id="0" name=""/>
        <dsp:cNvSpPr/>
      </dsp:nvSpPr>
      <dsp:spPr>
        <a:xfrm>
          <a:off x="3820856" y="912687"/>
          <a:ext cx="6407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0774" y="45720"/>
              </a:lnTo>
            </a:path>
          </a:pathLst>
        </a:custGeom>
        <a:noFill/>
        <a:ln w="19050" cap="flat" cmpd="sng" algn="ctr">
          <a:solidFill>
            <a:schemeClr val="accent1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tx1"/>
            </a:solidFill>
          </a:endParaRPr>
        </a:p>
      </dsp:txBody>
      <dsp:txXfrm>
        <a:off x="4124459" y="955047"/>
        <a:ext cx="33568" cy="6720"/>
      </dsp:txXfrm>
    </dsp:sp>
    <dsp:sp modelId="{BD97E84E-8C15-334D-89BD-85F14313AF83}">
      <dsp:nvSpPr>
        <dsp:cNvPr id="0" name=""/>
        <dsp:cNvSpPr/>
      </dsp:nvSpPr>
      <dsp:spPr>
        <a:xfrm>
          <a:off x="11207" y="200939"/>
          <a:ext cx="3811448" cy="1514935"/>
        </a:xfrm>
        <a:prstGeom prst="rect">
          <a:avLst/>
        </a:prstGeom>
        <a:solidFill>
          <a:schemeClr val="bg1">
            <a:lumMod val="85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>
              <a:solidFill>
                <a:schemeClr val="tx1"/>
              </a:solidFill>
            </a:rPr>
            <a:t>Retrieve Data via BOLD API:</a:t>
          </a:r>
        </a:p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Ø"/>
          </a:pPr>
          <a:r>
            <a:rPr lang="en-US" sz="2000" kern="1200" dirty="0">
              <a:solidFill>
                <a:schemeClr val="tx1"/>
              </a:solidFill>
            </a:rPr>
            <a:t>Parasitoid: </a:t>
          </a:r>
          <a:r>
            <a:rPr lang="en-US" sz="2000" kern="1200" dirty="0" err="1">
              <a:solidFill>
                <a:schemeClr val="tx1"/>
              </a:solidFill>
            </a:rPr>
            <a:t>Ichneumoninae</a:t>
          </a:r>
          <a:endParaRPr lang="en-US" sz="2000" kern="1200" dirty="0">
            <a:solidFill>
              <a:schemeClr val="tx1"/>
            </a:solidFill>
          </a:endParaRPr>
        </a:p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Ø"/>
          </a:pPr>
          <a:r>
            <a:rPr lang="en-US" sz="2000" kern="1200" dirty="0">
              <a:solidFill>
                <a:schemeClr val="tx1"/>
              </a:solidFill>
            </a:rPr>
            <a:t>Host: </a:t>
          </a:r>
          <a:r>
            <a:rPr lang="en-US" sz="2000" kern="1200" dirty="0" err="1">
              <a:solidFill>
                <a:schemeClr val="tx1"/>
              </a:solidFill>
            </a:rPr>
            <a:t>Heliconiinae|Danainae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11207" y="200939"/>
        <a:ext cx="3811448" cy="1514935"/>
      </dsp:txXfrm>
    </dsp:sp>
    <dsp:sp modelId="{9BFCFF3F-30F6-FA45-9AB6-795A16C6EF78}">
      <dsp:nvSpPr>
        <dsp:cNvPr id="0" name=""/>
        <dsp:cNvSpPr/>
      </dsp:nvSpPr>
      <dsp:spPr>
        <a:xfrm>
          <a:off x="8164529" y="912687"/>
          <a:ext cx="6407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0774" y="45720"/>
              </a:lnTo>
            </a:path>
          </a:pathLst>
        </a:custGeom>
        <a:noFill/>
        <a:ln w="19050" cap="flat" cmpd="sng" algn="ctr">
          <a:solidFill>
            <a:schemeClr val="accent1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tx1"/>
            </a:solidFill>
          </a:endParaRPr>
        </a:p>
      </dsp:txBody>
      <dsp:txXfrm>
        <a:off x="8468132" y="955047"/>
        <a:ext cx="33568" cy="6720"/>
      </dsp:txXfrm>
    </dsp:sp>
    <dsp:sp modelId="{24FCA8DE-0AC5-1B4E-906A-5C125141D2A0}">
      <dsp:nvSpPr>
        <dsp:cNvPr id="0" name=""/>
        <dsp:cNvSpPr/>
      </dsp:nvSpPr>
      <dsp:spPr>
        <a:xfrm>
          <a:off x="4494030" y="273920"/>
          <a:ext cx="3672299" cy="1368972"/>
        </a:xfrm>
        <a:prstGeom prst="rect">
          <a:avLst/>
        </a:prstGeom>
        <a:solidFill>
          <a:srgbClr val="FFC328">
            <a:alpha val="65098"/>
          </a:srgb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>
              <a:solidFill>
                <a:schemeClr val="tx1"/>
              </a:solidFill>
            </a:rPr>
            <a:t> remove NA:  BIN</a:t>
          </a:r>
          <a:r>
            <a:rPr lang="en-US" sz="2000" kern="1200" dirty="0">
              <a:solidFill>
                <a:schemeClr val="tx1"/>
              </a:solidFill>
            </a:rPr>
            <a:t>, </a:t>
          </a:r>
          <a:r>
            <a:rPr lang="en-US" sz="2000" kern="1200" dirty="0" err="1">
              <a:solidFill>
                <a:schemeClr val="tx1"/>
              </a:solidFill>
            </a:rPr>
            <a:t>lat</a:t>
          </a:r>
          <a:r>
            <a:rPr lang="en-US" sz="2000" kern="1200" dirty="0">
              <a:solidFill>
                <a:schemeClr val="tx1"/>
              </a:solidFill>
            </a:rPr>
            <a:t>, </a:t>
          </a:r>
          <a:r>
            <a:rPr lang="en-US" sz="2000" kern="1200" dirty="0" err="1">
              <a:solidFill>
                <a:schemeClr val="tx1"/>
              </a:solidFill>
            </a:rPr>
            <a:t>lon</a:t>
          </a:r>
          <a:endParaRPr lang="en-CA" sz="2000" kern="1200" dirty="0">
            <a:solidFill>
              <a:schemeClr val="tx1"/>
            </a:solidFill>
          </a:endParaRPr>
        </a:p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Ø"/>
          </a:pPr>
          <a:r>
            <a:rPr lang="en-US" sz="2000" kern="1200" dirty="0">
              <a:solidFill>
                <a:schemeClr val="tx1"/>
              </a:solidFill>
            </a:rPr>
            <a:t>Parasitoid (n = 16586)</a:t>
          </a:r>
          <a:endParaRPr lang="en-CA" sz="2000" kern="1200" dirty="0">
            <a:solidFill>
              <a:schemeClr val="tx1"/>
            </a:solidFill>
          </a:endParaRPr>
        </a:p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Ø"/>
          </a:pPr>
          <a:r>
            <a:rPr lang="en-US" sz="2000" kern="1200" dirty="0">
              <a:solidFill>
                <a:schemeClr val="tx1"/>
              </a:solidFill>
            </a:rPr>
            <a:t>Host (n = 10458)</a:t>
          </a:r>
          <a:endParaRPr lang="en-CA" sz="2000" kern="1200" dirty="0">
            <a:solidFill>
              <a:schemeClr val="tx1"/>
            </a:solidFill>
          </a:endParaRPr>
        </a:p>
      </dsp:txBody>
      <dsp:txXfrm>
        <a:off x="4494030" y="273920"/>
        <a:ext cx="3672299" cy="1368972"/>
      </dsp:txXfrm>
    </dsp:sp>
    <dsp:sp modelId="{21D4ECD0-2619-DA4E-98B6-14168F637132}">
      <dsp:nvSpPr>
        <dsp:cNvPr id="0" name=""/>
        <dsp:cNvSpPr/>
      </dsp:nvSpPr>
      <dsp:spPr>
        <a:xfrm>
          <a:off x="2918913" y="1832312"/>
          <a:ext cx="7378298" cy="656957"/>
        </a:xfrm>
        <a:custGeom>
          <a:avLst/>
          <a:gdLst/>
          <a:ahLst/>
          <a:cxnLst/>
          <a:rect l="0" t="0" r="0" b="0"/>
          <a:pathLst>
            <a:path>
              <a:moveTo>
                <a:pt x="7378298" y="0"/>
              </a:moveTo>
              <a:lnTo>
                <a:pt x="7378298" y="345578"/>
              </a:lnTo>
              <a:lnTo>
                <a:pt x="0" y="345578"/>
              </a:lnTo>
              <a:lnTo>
                <a:pt x="0" y="656957"/>
              </a:lnTo>
            </a:path>
          </a:pathLst>
        </a:custGeom>
        <a:noFill/>
        <a:ln w="19050" cap="flat" cmpd="sng" algn="ctr">
          <a:solidFill>
            <a:schemeClr val="accent4">
              <a:lumMod val="5000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22806" y="2157430"/>
        <a:ext cx="370513" cy="6720"/>
      </dsp:txXfrm>
    </dsp:sp>
    <dsp:sp modelId="{7E16AF33-883C-9547-8FDC-CDB18AA02317}">
      <dsp:nvSpPr>
        <dsp:cNvPr id="0" name=""/>
        <dsp:cNvSpPr/>
      </dsp:nvSpPr>
      <dsp:spPr>
        <a:xfrm>
          <a:off x="8837703" y="82701"/>
          <a:ext cx="2919017" cy="1751410"/>
        </a:xfrm>
        <a:prstGeom prst="rect">
          <a:avLst/>
        </a:prstGeom>
        <a:solidFill>
          <a:srgbClr val="C2F2C8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>
              <a:solidFill>
                <a:schemeClr val="tx1"/>
              </a:solidFill>
            </a:rPr>
            <a:t>Organize data into 10</a:t>
          </a:r>
          <a:r>
            <a:rPr lang="en-US" sz="2000" kern="1200" dirty="0">
              <a:solidFill>
                <a:schemeClr val="tx1"/>
              </a:solidFill>
              <a:cs typeface="Arial" panose="020B0604020202020204" pitchFamily="34" charset="0"/>
            </a:rPr>
            <a:t>°</a:t>
          </a:r>
          <a:r>
            <a:rPr lang="en-CA" sz="2000" kern="1200" dirty="0">
              <a:solidFill>
                <a:schemeClr val="tx1"/>
              </a:solidFill>
            </a:rPr>
            <a:t> latitude bins: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>
              <a:solidFill>
                <a:schemeClr val="tx1"/>
              </a:solidFill>
            </a:rPr>
            <a:t>Overall range [-50</a:t>
          </a:r>
          <a:r>
            <a:rPr lang="en-US" sz="2000" kern="1200" dirty="0">
              <a:solidFill>
                <a:schemeClr val="tx1"/>
              </a:solidFill>
              <a:cs typeface="Arial" panose="020B0604020202020204" pitchFamily="34" charset="0"/>
            </a:rPr>
            <a:t>°</a:t>
          </a:r>
          <a:r>
            <a:rPr lang="en-CA" sz="2000" kern="1200" dirty="0">
              <a:solidFill>
                <a:schemeClr val="tx1"/>
              </a:solidFill>
            </a:rPr>
            <a:t>, 90</a:t>
          </a:r>
          <a:r>
            <a:rPr lang="en-US" sz="2000" kern="1200" dirty="0">
              <a:solidFill>
                <a:schemeClr val="tx1"/>
              </a:solidFill>
              <a:cs typeface="Arial" panose="020B0604020202020204" pitchFamily="34" charset="0"/>
            </a:rPr>
            <a:t>°</a:t>
          </a:r>
          <a:r>
            <a:rPr lang="en-CA" sz="2000" kern="1200" dirty="0">
              <a:solidFill>
                <a:schemeClr val="tx1"/>
              </a:solidFill>
            </a:rPr>
            <a:t>]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8837703" y="82701"/>
        <a:ext cx="2919017" cy="1751410"/>
      </dsp:txXfrm>
    </dsp:sp>
    <dsp:sp modelId="{D5DB0C18-D572-D441-A7A6-D999716CFFCC}">
      <dsp:nvSpPr>
        <dsp:cNvPr id="0" name=""/>
        <dsp:cNvSpPr/>
      </dsp:nvSpPr>
      <dsp:spPr>
        <a:xfrm>
          <a:off x="4873249" y="3223872"/>
          <a:ext cx="12785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278579" y="45720"/>
              </a:lnTo>
            </a:path>
          </a:pathLst>
        </a:custGeom>
        <a:noFill/>
        <a:ln w="19050" cap="flat" cmpd="sng" algn="ctr">
          <a:solidFill>
            <a:schemeClr val="accent1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tx1"/>
            </a:solidFill>
          </a:endParaRPr>
        </a:p>
      </dsp:txBody>
      <dsp:txXfrm>
        <a:off x="5479810" y="3266231"/>
        <a:ext cx="65458" cy="6720"/>
      </dsp:txXfrm>
    </dsp:sp>
    <dsp:sp modelId="{BDB4F158-B701-1746-B0D4-10088D8D9097}">
      <dsp:nvSpPr>
        <dsp:cNvPr id="0" name=""/>
        <dsp:cNvSpPr/>
      </dsp:nvSpPr>
      <dsp:spPr>
        <a:xfrm>
          <a:off x="962778" y="2521669"/>
          <a:ext cx="3912271" cy="1495844"/>
        </a:xfrm>
        <a:prstGeom prst="rect">
          <a:avLst/>
        </a:prstGeom>
        <a:solidFill>
          <a:schemeClr val="accent2">
            <a:lumMod val="40000"/>
            <a:lumOff val="6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>
              <a:solidFill>
                <a:schemeClr val="tx1"/>
              </a:solidFill>
            </a:rPr>
            <a:t>Calculate:</a:t>
          </a:r>
        </a:p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lphaLcPeriod"/>
          </a:pPr>
          <a:r>
            <a:rPr lang="en-CA" sz="2000" kern="1200" dirty="0">
              <a:solidFill>
                <a:schemeClr val="tx1"/>
              </a:solidFill>
            </a:rPr>
            <a:t>Shannon Diversity Index (H')</a:t>
          </a:r>
        </a:p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lphaLcPeriod"/>
          </a:pPr>
          <a:r>
            <a:rPr lang="en-CA" sz="2000" kern="1200" dirty="0">
              <a:solidFill>
                <a:schemeClr val="tx1"/>
              </a:solidFill>
            </a:rPr>
            <a:t>latitude midpoint</a:t>
          </a:r>
        </a:p>
      </dsp:txBody>
      <dsp:txXfrm>
        <a:off x="962778" y="2521669"/>
        <a:ext cx="3912271" cy="1495844"/>
      </dsp:txXfrm>
    </dsp:sp>
    <dsp:sp modelId="{27FC4995-5BDB-514C-87B2-9BCBEE266A75}">
      <dsp:nvSpPr>
        <dsp:cNvPr id="0" name=""/>
        <dsp:cNvSpPr/>
      </dsp:nvSpPr>
      <dsp:spPr>
        <a:xfrm>
          <a:off x="3532506" y="3998156"/>
          <a:ext cx="5104456" cy="543159"/>
        </a:xfrm>
        <a:custGeom>
          <a:avLst/>
          <a:gdLst/>
          <a:ahLst/>
          <a:cxnLst/>
          <a:rect l="0" t="0" r="0" b="0"/>
          <a:pathLst>
            <a:path>
              <a:moveTo>
                <a:pt x="5104456" y="0"/>
              </a:moveTo>
              <a:lnTo>
                <a:pt x="5104456" y="288679"/>
              </a:lnTo>
              <a:lnTo>
                <a:pt x="0" y="288679"/>
              </a:lnTo>
              <a:lnTo>
                <a:pt x="0" y="543159"/>
              </a:lnTo>
            </a:path>
          </a:pathLst>
        </a:custGeom>
        <a:noFill/>
        <a:ln w="19050" cap="flat" cmpd="sng" algn="ctr">
          <a:solidFill>
            <a:schemeClr val="accent1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tx1"/>
            </a:solidFill>
          </a:endParaRPr>
        </a:p>
      </dsp:txBody>
      <dsp:txXfrm>
        <a:off x="5956319" y="4266375"/>
        <a:ext cx="256830" cy="6720"/>
      </dsp:txXfrm>
    </dsp:sp>
    <dsp:sp modelId="{DBBDD0F2-555F-C845-AD68-D2C3ACB8CBEB}">
      <dsp:nvSpPr>
        <dsp:cNvPr id="0" name=""/>
        <dsp:cNvSpPr/>
      </dsp:nvSpPr>
      <dsp:spPr>
        <a:xfrm>
          <a:off x="6184229" y="2539227"/>
          <a:ext cx="4905467" cy="1460728"/>
        </a:xfrm>
        <a:prstGeom prst="rect">
          <a:avLst/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>
              <a:solidFill>
                <a:schemeClr val="tx1"/>
              </a:solidFill>
            </a:rPr>
            <a:t>Generalized Additive Model &amp; Plot:</a:t>
          </a:r>
        </a:p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CA" sz="2000" kern="1200" dirty="0">
              <a:solidFill>
                <a:schemeClr val="tx1"/>
              </a:solidFill>
            </a:rPr>
            <a:t>latitude vs parasitoid diversity</a:t>
          </a:r>
        </a:p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CA" sz="2000" kern="1200" dirty="0">
              <a:solidFill>
                <a:schemeClr val="tx1"/>
              </a:solidFill>
            </a:rPr>
            <a:t>latitude vs host diversity</a:t>
          </a:r>
        </a:p>
      </dsp:txBody>
      <dsp:txXfrm>
        <a:off x="6184229" y="2539227"/>
        <a:ext cx="4905467" cy="1460728"/>
      </dsp:txXfrm>
    </dsp:sp>
    <dsp:sp modelId="{FA0DF076-6AFA-EC4C-9C00-2545DF22BE5E}">
      <dsp:nvSpPr>
        <dsp:cNvPr id="0" name=""/>
        <dsp:cNvSpPr/>
      </dsp:nvSpPr>
      <dsp:spPr>
        <a:xfrm>
          <a:off x="5289268" y="5403613"/>
          <a:ext cx="65630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807"/>
              </a:moveTo>
              <a:lnTo>
                <a:pt x="345251" y="45807"/>
              </a:lnTo>
              <a:lnTo>
                <a:pt x="345251" y="45720"/>
              </a:lnTo>
              <a:lnTo>
                <a:pt x="656303" y="45720"/>
              </a:lnTo>
            </a:path>
          </a:pathLst>
        </a:custGeom>
        <a:noFill/>
        <a:ln w="19050" cap="flat" cmpd="sng" algn="ctr">
          <a:solidFill>
            <a:schemeClr val="accent1"/>
          </a:solidFill>
          <a:prstDash val="solid"/>
          <a:round/>
          <a:headEnd type="none" w="med" len="med"/>
          <a:tailEnd type="arrow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tx1"/>
            </a:solidFill>
          </a:endParaRPr>
        </a:p>
      </dsp:txBody>
      <dsp:txXfrm>
        <a:off x="5600247" y="5445973"/>
        <a:ext cx="34345" cy="6720"/>
      </dsp:txXfrm>
    </dsp:sp>
    <dsp:sp modelId="{3A1A0E47-8B7F-0F4F-B4E7-9FEFA3E1C55E}">
      <dsp:nvSpPr>
        <dsp:cNvPr id="0" name=""/>
        <dsp:cNvSpPr/>
      </dsp:nvSpPr>
      <dsp:spPr>
        <a:xfrm>
          <a:off x="1773943" y="4573715"/>
          <a:ext cx="3517124" cy="1751410"/>
        </a:xfrm>
        <a:prstGeom prst="rect">
          <a:avLst/>
        </a:prstGeom>
        <a:solidFill>
          <a:schemeClr val="accent3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>
              <a:solidFill>
                <a:schemeClr val="tx1"/>
              </a:solidFill>
            </a:rPr>
            <a:t>Merge datasets:</a:t>
          </a:r>
        </a:p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romanLcPeriod"/>
          </a:pPr>
          <a:r>
            <a:rPr lang="en-CA" sz="2000" kern="1200" dirty="0">
              <a:solidFill>
                <a:schemeClr val="tx1"/>
              </a:solidFill>
            </a:rPr>
            <a:t>latitude midpoints</a:t>
          </a:r>
        </a:p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romanLcPeriod"/>
          </a:pPr>
          <a:r>
            <a:rPr lang="en-CA" sz="2000" kern="1200" dirty="0">
              <a:solidFill>
                <a:schemeClr val="tx1"/>
              </a:solidFill>
            </a:rPr>
            <a:t>parasitoid diversity (H')</a:t>
          </a:r>
        </a:p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romanLcPeriod"/>
          </a:pPr>
          <a:r>
            <a:rPr lang="en-CA" sz="2000" kern="1200" dirty="0">
              <a:solidFill>
                <a:schemeClr val="tx1"/>
              </a:solidFill>
            </a:rPr>
            <a:t>host diversity (H')</a:t>
          </a:r>
        </a:p>
      </dsp:txBody>
      <dsp:txXfrm>
        <a:off x="1773943" y="4573715"/>
        <a:ext cx="3517124" cy="1751410"/>
      </dsp:txXfrm>
    </dsp:sp>
    <dsp:sp modelId="{528912BB-64F5-FE4A-8BAE-B04EC35551F8}">
      <dsp:nvSpPr>
        <dsp:cNvPr id="0" name=""/>
        <dsp:cNvSpPr/>
      </dsp:nvSpPr>
      <dsp:spPr>
        <a:xfrm>
          <a:off x="5977971" y="4921677"/>
          <a:ext cx="5697192" cy="1055312"/>
        </a:xfrm>
        <a:prstGeom prst="rect">
          <a:avLst/>
        </a:prstGeom>
        <a:solidFill>
          <a:schemeClr val="accent5">
            <a:lumMod val="20000"/>
            <a:lumOff val="8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>
              <a:solidFill>
                <a:schemeClr val="tx1"/>
              </a:solidFill>
            </a:rPr>
            <a:t>Generalized Additive Model &amp; Partial Effect Plots:</a:t>
          </a:r>
        </a:p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CA" sz="2000" kern="1200" dirty="0">
              <a:solidFill>
                <a:schemeClr val="tx1"/>
              </a:solidFill>
            </a:rPr>
            <a:t>3. latitude + host diversity vs parasitoid diversity</a:t>
          </a:r>
        </a:p>
      </dsp:txBody>
      <dsp:txXfrm>
        <a:off x="5977971" y="4921677"/>
        <a:ext cx="5697192" cy="10553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3CD359-E01F-D548-8678-FEA131163924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D4C5E-7701-0042-90FF-861451C92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337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D4C5E-7701-0042-90FF-861451C926F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5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27E78-831A-AAD4-E645-204C344C9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89B2C8-4D4A-C575-B25F-134D576CF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33205-9655-0AA5-0639-CECF01EB7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FAABF-310C-9040-A464-B28069E3550D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A3A0E-444F-124E-228C-BFE603D17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5D885-0AF0-7087-3C25-6170049B3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6A37C-C405-4B40-9CB1-36FFCAC81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254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31F0B-9E33-2D02-1143-CACD6B83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093A2-0A66-E535-D5A1-BDE34F2AA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C4C14-B78C-7187-36EF-521AA0225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FAABF-310C-9040-A464-B28069E3550D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933B0-1EBC-F0C4-202C-917A9F3BF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4092A-A1FD-9818-F424-EC2FC5B7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6A37C-C405-4B40-9CB1-36FFCAC81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5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5FB59-159D-DE51-CB0B-224501BFC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8D09B-E958-FA2E-EB1C-CC5923C12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5737B-CA40-9498-5907-9F00AADD5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FAABF-310C-9040-A464-B28069E3550D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AE928-F3E8-BB41-FCD1-DC2BE5838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54B04-4191-2559-A088-781F399C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6A37C-C405-4B40-9CB1-36FFCAC81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61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0D56F-027E-339C-188C-FD449A173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AE093-6E31-DD96-0899-11A464C2C9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BC7596-EAE4-0A21-2B8F-57BBAFA84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812DD-BD65-459C-DDA0-871BE0A89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FAABF-310C-9040-A464-B28069E3550D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73456-074A-3A4F-3E3F-45EBCE44E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3871D-764E-062C-3426-3FEF4B6D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6A37C-C405-4B40-9CB1-36FFCAC81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238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95CE2-13D7-6724-C98B-AACFC210A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53CAA-3461-D9FB-436F-93C018C19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59681-257E-5A12-81B7-D346BE460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62C227-C2D9-7762-449B-90D5BC10AC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5CB763-C9FD-29F8-8476-7E905BC8B4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AB3EB6-D68D-F1D1-3717-102E2E832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FAABF-310C-9040-A464-B28069E3550D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106ACD-F179-81E1-E06E-33D859D1C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1D20F1-F9BF-A5C8-E7C6-E8547E42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6A37C-C405-4B40-9CB1-36FFCAC81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15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6CD60-C512-338E-6FE4-1C0C823CD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8509A3-298D-7D84-7F02-FBC59AFE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FAABF-310C-9040-A464-B28069E3550D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419873-8DA3-8A5C-7A0B-6042A55B1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911D8-5129-9758-4711-F24BAD774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6A37C-C405-4B40-9CB1-36FFCAC81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86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24F059-1FA8-E369-0281-2775FB3D4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FAABF-310C-9040-A464-B28069E3550D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0902D1-842E-81E9-CC19-2D70CEF7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A8D0F-66C5-BD79-ED0D-FA221CE72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6A37C-C405-4B40-9CB1-36FFCAC81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243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5CC83-1F23-3817-D8FA-E1D1393C9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4FA0D-BC22-850E-D4D7-6AF7C3FD1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DAF61-335B-6AC5-30B7-C6146FE79E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24424-95A4-6533-A350-01464D8DD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FAABF-310C-9040-A464-B28069E3550D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668E6-A72F-DF97-E354-A01CD2BD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C361C-EC33-587F-88E8-8934A2B71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6A37C-C405-4B40-9CB1-36FFCAC81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92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796C8-9DA8-77A3-E4E2-B8F3C54BA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4CA671-2410-988E-D85A-4CB638E358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741C8B-9785-F712-09B8-FC5C0F0627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8CCEE-A029-8660-7552-BDE409BE6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FAABF-310C-9040-A464-B28069E3550D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4B6FD-6A78-703E-733C-3FCFF988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BBB4F3-5B0B-2C9B-4AAD-A6A37AC87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6A37C-C405-4B40-9CB1-36FFCAC81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182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D05E8-3C1C-6A47-50FE-FF585305C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BA9BE7-3AD7-0411-CB21-0F61B42E7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ACE99-0F9D-EB7A-F91C-3DAF7DF1C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FAABF-310C-9040-A464-B28069E3550D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7CC21-7542-8F15-2089-112A8164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B0E68-1A2B-347D-B3A0-3D77D3722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6A37C-C405-4B40-9CB1-36FFCAC81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922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8A94D1-ED2A-C80D-9092-BE6429117C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3B4DA4-D477-CF80-12A0-A4F67A76F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49B18-1680-1BF0-8340-C5E1BF87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FAABF-310C-9040-A464-B28069E3550D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5236D-9B55-8DB2-710F-245F9E493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53E46-CC11-67A3-3D0F-714E1B82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6A37C-C405-4B40-9CB1-36FFCAC81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083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6CFB04-D90D-4C57-1286-D630347CD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11E3A-4686-EEC1-8BC3-071FB3DDD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F18D8-2389-F863-00E1-42CB1A2D8F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4FAABF-310C-9040-A464-B28069E3550D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9D3F2-325C-7A2B-AFF0-AE67129B4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7838A-F2BE-447A-6A50-2D2362194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B6A37C-C405-4B40-9CB1-36FFCAC81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99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11/1365-2656.14196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111/icad.12144" TargetMode="External"/><Relationship Id="rId4" Type="http://schemas.openxmlformats.org/officeDocument/2006/relationships/hyperlink" Target="https://doi.org/10.1073/pnas.201199711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4D52C-FB00-FE14-75A5-7BCDEBE77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378" y="1476102"/>
            <a:ext cx="10597244" cy="239211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sz="7300" dirty="0"/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Understanding Atypical Parasitoid Wasp Diversity Trends Across Latitudes Through Host Diversity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447121-ADDB-417B-BE16-806770501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2157" y="4304733"/>
            <a:ext cx="4887686" cy="107716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BINF*6210 Assignment 1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By: Rebekah Hest</a:t>
            </a:r>
          </a:p>
        </p:txBody>
      </p:sp>
      <p:pic>
        <p:nvPicPr>
          <p:cNvPr id="1026" name="Picture 2" descr="Brand Evolution | University of Guelph">
            <a:extLst>
              <a:ext uri="{FF2B5EF4-FFF2-40B4-BE49-F238E27FC236}">
                <a16:creationId xmlns:a16="http://schemas.microsoft.com/office/drawing/2014/main" id="{3718275D-9B3B-0528-E68E-BCB07C04B4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0" t="10465" r="4651" b="15116"/>
          <a:stretch>
            <a:fillRect/>
          </a:stretch>
        </p:blipFill>
        <p:spPr bwMode="auto">
          <a:xfrm>
            <a:off x="104502" y="5100756"/>
            <a:ext cx="2155371" cy="1757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0545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BBAAB-8EDE-EFBA-F093-83B9B665F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358" y="342714"/>
            <a:ext cx="10515600" cy="1325563"/>
          </a:xfrm>
        </p:spPr>
        <p:txBody>
          <a:bodyPr/>
          <a:lstStyle/>
          <a:p>
            <a:r>
              <a:rPr lang="en-US" dirty="0"/>
              <a:t>Understanding spatial-ecological-interactions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F4C30-3B1D-1C95-ABD5-4DA77F89B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358" y="1690688"/>
            <a:ext cx="11115283" cy="41618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Latitudinal diversity gradient (LDG): </a:t>
            </a:r>
            <a:r>
              <a:rPr lang="en-US" dirty="0"/>
              <a:t>ecological pattern where species richness and diversity peak at or near the equator (latitude = 0</a:t>
            </a:r>
            <a:r>
              <a:rPr lang="en-US" dirty="0">
                <a:cs typeface="Arial" panose="020B0604020202020204" pitchFamily="34" charset="0"/>
              </a:rPr>
              <a:t>°</a:t>
            </a:r>
            <a:r>
              <a:rPr lang="en-US" dirty="0"/>
              <a:t>) and decreases towards the poles (Mannion, 2020).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Anomalous latitudinal diversity patterns observed in parasitoid wasps (Castellanos-</a:t>
            </a:r>
            <a:r>
              <a:rPr lang="en-US" dirty="0" err="1"/>
              <a:t>Labarcena</a:t>
            </a:r>
            <a:r>
              <a:rPr lang="en-US" dirty="0"/>
              <a:t>, 2024).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Need to investigate other mechanisms of parasitoid diversity.</a:t>
            </a:r>
          </a:p>
          <a:p>
            <a:r>
              <a:rPr lang="en-US" sz="2400" dirty="0"/>
              <a:t>Host richness at the at subfamily level previously studied (Timms et al., 2016).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268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61713-A8A6-CA87-DC4E-5EF859AA3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381" y="901874"/>
            <a:ext cx="10221237" cy="5550662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u="sng" dirty="0"/>
              <a:t>Gap:</a:t>
            </a:r>
            <a:r>
              <a:rPr lang="en-US" sz="4400" dirty="0"/>
              <a:t> </a:t>
            </a:r>
          </a:p>
          <a:p>
            <a:pPr marL="0" indent="0" algn="ctr">
              <a:buNone/>
            </a:pPr>
            <a:r>
              <a:rPr lang="en-US" sz="3200" dirty="0"/>
              <a:t>Knowledge of relationship between host diversity and spatial distribution on parasitoid wasp diversity.</a:t>
            </a:r>
          </a:p>
          <a:p>
            <a:pPr marL="0" indent="0" algn="ctr">
              <a:buNone/>
            </a:pPr>
            <a:endParaRPr lang="en-US" dirty="0"/>
          </a:p>
          <a:p>
            <a:pPr algn="ctr"/>
            <a:endParaRPr lang="en-US" dirty="0"/>
          </a:p>
          <a:p>
            <a:pPr marL="0" indent="0" algn="ctr">
              <a:buNone/>
            </a:pPr>
            <a:r>
              <a:rPr lang="en-US" sz="4400" u="sng" dirty="0"/>
              <a:t>Question:</a:t>
            </a:r>
            <a:r>
              <a:rPr lang="en-US" sz="4400" dirty="0"/>
              <a:t> </a:t>
            </a:r>
          </a:p>
          <a:p>
            <a:pPr marL="0" indent="0" algn="ctr">
              <a:buNone/>
            </a:pPr>
            <a:r>
              <a:rPr lang="en-US" sz="3200" b="1" dirty="0"/>
              <a:t>Does host diversity predict parasitoid wasp diversity and explain the anomalous trend across latitudes?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305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A5470-E0CD-E4FC-B5D3-A78D713EE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672" y="576198"/>
            <a:ext cx="10802655" cy="580118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dirty="0"/>
              <a:t>H</a:t>
            </a:r>
            <a:r>
              <a:rPr lang="en-US" baseline="-25000" dirty="0"/>
              <a:t>1 </a:t>
            </a:r>
            <a:r>
              <a:rPr lang="en-US" dirty="0"/>
              <a:t> </a:t>
            </a:r>
            <a:r>
              <a:rPr lang="en-US" b="1" u="sng" dirty="0"/>
              <a:t>Resource Diversity Relationship: </a:t>
            </a:r>
          </a:p>
          <a:p>
            <a:pPr marL="0" indent="0" algn="ctr">
              <a:buNone/>
            </a:pPr>
            <a:r>
              <a:rPr lang="en-CA" dirty="0"/>
              <a:t>More diverse resources (hosts) provides more ecological niches</a:t>
            </a:r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US" dirty="0"/>
              <a:t>If </a:t>
            </a:r>
            <a:r>
              <a:rPr lang="en-CA" dirty="0"/>
              <a:t>host diversity </a:t>
            </a:r>
            <a:r>
              <a:rPr lang="en-CA" dirty="0">
                <a:solidFill>
                  <a:srgbClr val="00B050"/>
                </a:solidFill>
              </a:rPr>
              <a:t>increases</a:t>
            </a:r>
            <a:r>
              <a:rPr lang="en-CA" dirty="0"/>
              <a:t>, then parasitoid diversity </a:t>
            </a:r>
            <a:r>
              <a:rPr lang="en-CA" dirty="0">
                <a:solidFill>
                  <a:srgbClr val="00B050"/>
                </a:solidFill>
              </a:rPr>
              <a:t>increases</a:t>
            </a:r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dirty="0"/>
              <a:t>H</a:t>
            </a:r>
            <a:r>
              <a:rPr lang="en-CA" baseline="-25000" dirty="0"/>
              <a:t>2</a:t>
            </a:r>
            <a:r>
              <a:rPr lang="en-CA" dirty="0"/>
              <a:t>  </a:t>
            </a:r>
            <a:r>
              <a:rPr lang="en-CA" b="1" u="sng" dirty="0"/>
              <a:t>Host Dilution:</a:t>
            </a:r>
          </a:p>
          <a:p>
            <a:pPr marL="0" indent="0" algn="ctr">
              <a:buNone/>
            </a:pPr>
            <a:r>
              <a:rPr lang="en-CA" dirty="0"/>
              <a:t>Lower relative abundance of hosts reduces specialist success, homogenizing towards generalists</a:t>
            </a:r>
          </a:p>
          <a:p>
            <a:pPr marL="0" indent="0" algn="ctr">
              <a:buNone/>
            </a:pPr>
            <a:endParaRPr lang="en-CA" b="1" u="sng" dirty="0"/>
          </a:p>
          <a:p>
            <a:pPr marL="0" indent="0" algn="ctr">
              <a:buNone/>
            </a:pPr>
            <a:r>
              <a:rPr lang="en-CA" dirty="0"/>
              <a:t>If host diversity </a:t>
            </a:r>
            <a:r>
              <a:rPr lang="en-CA" dirty="0">
                <a:solidFill>
                  <a:srgbClr val="00B050"/>
                </a:solidFill>
              </a:rPr>
              <a:t>increases</a:t>
            </a:r>
            <a:r>
              <a:rPr lang="en-CA" dirty="0"/>
              <a:t>, then parasitoid diversity </a:t>
            </a:r>
            <a:r>
              <a:rPr lang="en-CA" dirty="0">
                <a:solidFill>
                  <a:srgbClr val="FF0000"/>
                </a:solidFill>
              </a:rPr>
              <a:t>decreases</a:t>
            </a:r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dirty="0"/>
              <a:t>H</a:t>
            </a:r>
            <a:r>
              <a:rPr lang="en-CA" baseline="-25000" dirty="0"/>
              <a:t>0</a:t>
            </a:r>
            <a:r>
              <a:rPr lang="en-CA" dirty="0"/>
              <a:t>  </a:t>
            </a:r>
            <a:r>
              <a:rPr lang="en-CA" b="1" u="sng" dirty="0"/>
              <a:t>Null Hypothesis:</a:t>
            </a:r>
          </a:p>
          <a:p>
            <a:pPr marL="0" indent="0" algn="ctr">
              <a:buNone/>
            </a:pPr>
            <a:r>
              <a:rPr lang="en-CA" dirty="0"/>
              <a:t>Parasitoid diversity not influenced by host diversity</a:t>
            </a:r>
          </a:p>
          <a:p>
            <a:pPr marL="0" indent="0" algn="ctr">
              <a:buNone/>
            </a:pPr>
            <a:endParaRPr lang="en-CA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E2EFEB2-8B03-FCE3-E862-DC14571A1E51}"/>
              </a:ext>
            </a:extLst>
          </p:cNvPr>
          <p:cNvCxnSpPr>
            <a:cxnSpLocks/>
          </p:cNvCxnSpPr>
          <p:nvPr/>
        </p:nvCxnSpPr>
        <p:spPr>
          <a:xfrm>
            <a:off x="5939422" y="1397726"/>
            <a:ext cx="0" cy="3297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EB90EF9-E18E-9D93-BB25-48F1A0F29362}"/>
              </a:ext>
            </a:extLst>
          </p:cNvPr>
          <p:cNvCxnSpPr>
            <a:cxnSpLocks/>
          </p:cNvCxnSpPr>
          <p:nvPr/>
        </p:nvCxnSpPr>
        <p:spPr>
          <a:xfrm>
            <a:off x="5939422" y="3644538"/>
            <a:ext cx="0" cy="3501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3DE20EAF-2EA1-3D3C-C52E-CC470D0AC3EE}"/>
              </a:ext>
            </a:extLst>
          </p:cNvPr>
          <p:cNvSpPr/>
          <p:nvPr/>
        </p:nvSpPr>
        <p:spPr>
          <a:xfrm>
            <a:off x="1390389" y="413359"/>
            <a:ext cx="9519781" cy="190395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993378A3-CCED-4D41-4980-50D168F29DDB}"/>
              </a:ext>
            </a:extLst>
          </p:cNvPr>
          <p:cNvSpPr/>
          <p:nvPr/>
        </p:nvSpPr>
        <p:spPr>
          <a:xfrm>
            <a:off x="1390389" y="2493496"/>
            <a:ext cx="9519781" cy="220376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1BB6627-213B-4629-56A5-E3E1D62C5C78}"/>
              </a:ext>
            </a:extLst>
          </p:cNvPr>
          <p:cNvSpPr/>
          <p:nvPr/>
        </p:nvSpPr>
        <p:spPr>
          <a:xfrm>
            <a:off x="1505211" y="4947781"/>
            <a:ext cx="9404959" cy="155567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76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BC683-5F0C-FEF7-DD96-89AC69135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FA5EEC9-9718-975A-2630-53DDD6945B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5186968"/>
              </p:ext>
            </p:extLst>
          </p:nvPr>
        </p:nvGraphicFramePr>
        <p:xfrm>
          <a:off x="225287" y="159405"/>
          <a:ext cx="11767929" cy="6506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870739A3-1C18-A422-9089-C7D6549090C5}"/>
              </a:ext>
            </a:extLst>
          </p:cNvPr>
          <p:cNvSpPr/>
          <p:nvPr/>
        </p:nvSpPr>
        <p:spPr>
          <a:xfrm>
            <a:off x="13849" y="5334497"/>
            <a:ext cx="343957" cy="3487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E298A6-8558-C7B3-8219-1B5AAF753AD6}"/>
              </a:ext>
            </a:extLst>
          </p:cNvPr>
          <p:cNvSpPr/>
          <p:nvPr/>
        </p:nvSpPr>
        <p:spPr>
          <a:xfrm>
            <a:off x="0" y="5700652"/>
            <a:ext cx="357806" cy="274259"/>
          </a:xfrm>
          <a:prstGeom prst="rect">
            <a:avLst/>
          </a:prstGeom>
          <a:solidFill>
            <a:srgbClr val="FFC328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FFD58F-8F02-64F9-AED0-72E3D4854965}"/>
              </a:ext>
            </a:extLst>
          </p:cNvPr>
          <p:cNvSpPr/>
          <p:nvPr/>
        </p:nvSpPr>
        <p:spPr>
          <a:xfrm>
            <a:off x="-20175" y="5990181"/>
            <a:ext cx="377981" cy="298486"/>
          </a:xfrm>
          <a:prstGeom prst="rect">
            <a:avLst/>
          </a:prstGeom>
          <a:solidFill>
            <a:schemeClr val="accent3">
              <a:lumMod val="20000"/>
              <a:lumOff val="80000"/>
              <a:alpha val="6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8354D6-AC24-19DA-0D1D-4B6E394CF450}"/>
              </a:ext>
            </a:extLst>
          </p:cNvPr>
          <p:cNvSpPr/>
          <p:nvPr/>
        </p:nvSpPr>
        <p:spPr>
          <a:xfrm>
            <a:off x="0" y="6255033"/>
            <a:ext cx="357806" cy="354682"/>
          </a:xfrm>
          <a:prstGeom prst="rect">
            <a:avLst/>
          </a:prstGeom>
          <a:solidFill>
            <a:schemeClr val="accent2">
              <a:lumMod val="40000"/>
              <a:lumOff val="60000"/>
              <a:alpha val="6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AECF7E-01BF-2434-7AE6-32C90BEBDB7D}"/>
              </a:ext>
            </a:extLst>
          </p:cNvPr>
          <p:cNvSpPr/>
          <p:nvPr/>
        </p:nvSpPr>
        <p:spPr>
          <a:xfrm>
            <a:off x="1" y="6575647"/>
            <a:ext cx="357806" cy="298323"/>
          </a:xfrm>
          <a:prstGeom prst="rect">
            <a:avLst/>
          </a:prstGeom>
          <a:solidFill>
            <a:schemeClr val="accent5">
              <a:lumMod val="20000"/>
              <a:lumOff val="80000"/>
              <a:alpha val="6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11DF67-03F7-80AE-731E-8472889AC5FB}"/>
              </a:ext>
            </a:extLst>
          </p:cNvPr>
          <p:cNvSpPr txBox="1"/>
          <p:nvPr/>
        </p:nvSpPr>
        <p:spPr>
          <a:xfrm>
            <a:off x="326229" y="5334722"/>
            <a:ext cx="1060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Retrieval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BA2F92-202C-6B9E-76D1-0351231152B8}"/>
              </a:ext>
            </a:extLst>
          </p:cNvPr>
          <p:cNvSpPr txBox="1"/>
          <p:nvPr/>
        </p:nvSpPr>
        <p:spPr>
          <a:xfrm>
            <a:off x="318794" y="5637878"/>
            <a:ext cx="1193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Filtering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47FACA-D4DC-C0E4-3E41-B4F812B6CF5A}"/>
              </a:ext>
            </a:extLst>
          </p:cNvPr>
          <p:cNvSpPr txBox="1"/>
          <p:nvPr/>
        </p:nvSpPr>
        <p:spPr>
          <a:xfrm>
            <a:off x="318355" y="6265425"/>
            <a:ext cx="1590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A638F3-07DC-CE91-E4CB-B647BAD0C129}"/>
              </a:ext>
            </a:extLst>
          </p:cNvPr>
          <p:cNvSpPr txBox="1"/>
          <p:nvPr/>
        </p:nvSpPr>
        <p:spPr>
          <a:xfrm>
            <a:off x="304944" y="5964655"/>
            <a:ext cx="1841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Manipulation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EB9B70-DD74-5905-6692-F86F21896B6F}"/>
              </a:ext>
            </a:extLst>
          </p:cNvPr>
          <p:cNvSpPr txBox="1"/>
          <p:nvPr/>
        </p:nvSpPr>
        <p:spPr>
          <a:xfrm>
            <a:off x="326229" y="6553519"/>
            <a:ext cx="1193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Modelling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0D6469-37A3-B86F-8320-1849A9E8F892}"/>
              </a:ext>
            </a:extLst>
          </p:cNvPr>
          <p:cNvSpPr/>
          <p:nvPr/>
        </p:nvSpPr>
        <p:spPr>
          <a:xfrm>
            <a:off x="0" y="5334497"/>
            <a:ext cx="1789043" cy="1523502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294A695-962F-0582-9516-124E474B973A}"/>
              </a:ext>
            </a:extLst>
          </p:cNvPr>
          <p:cNvCxnSpPr/>
          <p:nvPr/>
        </p:nvCxnSpPr>
        <p:spPr>
          <a:xfrm>
            <a:off x="0" y="5679852"/>
            <a:ext cx="17890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9078C20-5840-E861-1E43-191E69FC626F}"/>
              </a:ext>
            </a:extLst>
          </p:cNvPr>
          <p:cNvCxnSpPr/>
          <p:nvPr/>
        </p:nvCxnSpPr>
        <p:spPr>
          <a:xfrm>
            <a:off x="-2" y="5966180"/>
            <a:ext cx="17890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F87CED2-DA69-1D8B-186E-FD78E2DD2C48}"/>
              </a:ext>
            </a:extLst>
          </p:cNvPr>
          <p:cNvCxnSpPr/>
          <p:nvPr/>
        </p:nvCxnSpPr>
        <p:spPr>
          <a:xfrm>
            <a:off x="-2" y="6272764"/>
            <a:ext cx="17890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8DE82A-E3A5-C9F7-9E04-92115C983E1D}"/>
              </a:ext>
            </a:extLst>
          </p:cNvPr>
          <p:cNvCxnSpPr/>
          <p:nvPr/>
        </p:nvCxnSpPr>
        <p:spPr>
          <a:xfrm>
            <a:off x="13849" y="6575647"/>
            <a:ext cx="17890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101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FB8F5-9386-3A57-0453-EA803AE1A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174" y="165653"/>
            <a:ext cx="10071652" cy="128266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00FD"/>
                </a:solidFill>
              </a:rPr>
              <a:t>Host</a:t>
            </a:r>
            <a:r>
              <a:rPr lang="en-US" dirty="0"/>
              <a:t> closely follows typical trend with latitude, unlike </a:t>
            </a:r>
            <a:r>
              <a:rPr lang="en-US" dirty="0">
                <a:solidFill>
                  <a:srgbClr val="FF0000"/>
                </a:solidFill>
              </a:rPr>
              <a:t>Parasitoid</a:t>
            </a:r>
            <a:r>
              <a:rPr lang="en-US" dirty="0"/>
              <a:t> that displays anomalous trend</a:t>
            </a:r>
          </a:p>
        </p:txBody>
      </p:sp>
      <p:pic>
        <p:nvPicPr>
          <p:cNvPr id="11" name="Picture 10" descr="A diagram of different levels of latitudes&#10;&#10;AI-generated content may be incorrect.">
            <a:extLst>
              <a:ext uri="{FF2B5EF4-FFF2-40B4-BE49-F238E27FC236}">
                <a16:creationId xmlns:a16="http://schemas.microsoft.com/office/drawing/2014/main" id="{1F307CFC-4A80-2581-811D-935E5BAC5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896" y="1448321"/>
            <a:ext cx="10251033" cy="512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929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FAF8B-4B29-84F5-FD48-8DC07627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226" y="285970"/>
            <a:ext cx="10044992" cy="165274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Effect of latitude on diversity differs between taxonomic groups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AC9E3F3-DC7C-B85C-19FC-503B44CEA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703057"/>
              </p:ext>
            </p:extLst>
          </p:nvPr>
        </p:nvGraphicFramePr>
        <p:xfrm>
          <a:off x="2875332" y="1938718"/>
          <a:ext cx="6098783" cy="195938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032928">
                  <a:extLst>
                    <a:ext uri="{9D8B030D-6E8A-4147-A177-3AD203B41FA5}">
                      <a16:colId xmlns:a16="http://schemas.microsoft.com/office/drawing/2014/main" val="1946256901"/>
                    </a:ext>
                  </a:extLst>
                </a:gridCol>
                <a:gridCol w="1855795">
                  <a:extLst>
                    <a:ext uri="{9D8B030D-6E8A-4147-A177-3AD203B41FA5}">
                      <a16:colId xmlns:a16="http://schemas.microsoft.com/office/drawing/2014/main" val="977476857"/>
                    </a:ext>
                  </a:extLst>
                </a:gridCol>
                <a:gridCol w="2210060">
                  <a:extLst>
                    <a:ext uri="{9D8B030D-6E8A-4147-A177-3AD203B41FA5}">
                      <a16:colId xmlns:a16="http://schemas.microsoft.com/office/drawing/2014/main" val="3565409973"/>
                    </a:ext>
                  </a:extLst>
                </a:gridCol>
              </a:tblGrid>
              <a:tr h="6792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Response group</a:t>
                      </a:r>
                    </a:p>
                  </a:txBody>
                  <a:tcPr anchor="ctr" anchorCtr="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P-value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R-squared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81754485"/>
                  </a:ext>
                </a:extLst>
              </a:tr>
              <a:tr h="61377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Parasitoid wasp</a:t>
                      </a:r>
                    </a:p>
                  </a:txBody>
                  <a:tcPr anchor="ctr" anchorCtr="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0.0651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0.535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66913754"/>
                  </a:ext>
                </a:extLst>
              </a:tr>
              <a:tr h="6347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FD"/>
                          </a:solidFill>
                        </a:rPr>
                        <a:t>Host butterfly</a:t>
                      </a:r>
                    </a:p>
                  </a:txBody>
                  <a:tcPr anchor="ctr" anchorCtr="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0.00153</a:t>
                      </a:r>
                      <a:r>
                        <a:rPr lang="en-US" b="1" dirty="0"/>
                        <a:t>*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0.986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9271179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4292833-4DC6-9C36-13EA-C84EC55F0067}"/>
              </a:ext>
            </a:extLst>
          </p:cNvPr>
          <p:cNvSpPr txBox="1"/>
          <p:nvPr/>
        </p:nvSpPr>
        <p:spPr>
          <a:xfrm>
            <a:off x="1641343" y="4149331"/>
            <a:ext cx="8566759" cy="2308324"/>
          </a:xfrm>
          <a:prstGeom prst="rect">
            <a:avLst/>
          </a:prstGeom>
          <a:noFill/>
        </p:spPr>
        <p:txBody>
          <a:bodyPr wrap="square" tIns="0" rtlCol="0" anchor="ctr" anchorCtr="0">
            <a:spAutoFit/>
          </a:bodyPr>
          <a:lstStyle/>
          <a:p>
            <a:pPr algn="ctr"/>
            <a:r>
              <a:rPr lang="en-US" sz="2400" dirty="0"/>
              <a:t>Parasitoid diversity is not predicted by latitude.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Host diversity is </a:t>
            </a:r>
            <a:r>
              <a:rPr lang="en-US" sz="2400" b="1" dirty="0"/>
              <a:t>significantly</a:t>
            </a:r>
            <a:r>
              <a:rPr lang="en-US" sz="2400" dirty="0"/>
              <a:t> predicted by latitude.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2400" dirty="0"/>
          </a:p>
          <a:p>
            <a:pPr algn="ctr"/>
            <a:r>
              <a:rPr lang="en-US" sz="2400" dirty="0"/>
              <a:t>Different pattern between parasitoid and host.</a:t>
            </a:r>
          </a:p>
          <a:p>
            <a:pPr algn="ctr">
              <a:buSzPct val="75000"/>
            </a:pPr>
            <a:r>
              <a:rPr lang="en-US" sz="2400" dirty="0"/>
              <a:t>Can host diversity be a predictor of parasitoid diversity?</a:t>
            </a:r>
          </a:p>
        </p:txBody>
      </p:sp>
    </p:spTree>
    <p:extLst>
      <p:ext uri="{BB962C8B-B14F-4D97-AF65-F5344CB8AC3E}">
        <p14:creationId xmlns:p14="http://schemas.microsoft.com/office/powerpoint/2010/main" val="2192813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D0A48-8C5E-DCFA-7208-F76BBD860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494" y="340073"/>
            <a:ext cx="11483009" cy="1039606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solidFill>
                  <a:srgbClr val="0000FD"/>
                </a:solidFill>
              </a:rPr>
              <a:t>Host Diversity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is a significant predictor of Parasitoid Diversity when modelled with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rgbClr val="FFC000"/>
                </a:solidFill>
              </a:rPr>
              <a:t>Latitude</a:t>
            </a:r>
          </a:p>
        </p:txBody>
      </p:sp>
      <p:pic>
        <p:nvPicPr>
          <p:cNvPr id="4" name="Picture 3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AE060023-0BD5-C650-2CED-89102A4B8E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83" r="2896"/>
          <a:stretch>
            <a:fillRect/>
          </a:stretch>
        </p:blipFill>
        <p:spPr>
          <a:xfrm>
            <a:off x="2262224" y="1615858"/>
            <a:ext cx="7667551" cy="524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567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CF157-478D-D32E-B3D9-F6A2E8FE0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472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Latitude</a:t>
            </a:r>
            <a:r>
              <a:rPr lang="en-US" dirty="0"/>
              <a:t> is a significant predictor of Parasitoid Diversity when modelled with </a:t>
            </a:r>
            <a:r>
              <a:rPr lang="en-US" dirty="0">
                <a:solidFill>
                  <a:srgbClr val="0000FD"/>
                </a:solidFill>
              </a:rPr>
              <a:t>Host Diversity</a:t>
            </a:r>
          </a:p>
        </p:txBody>
      </p:sp>
      <p:pic>
        <p:nvPicPr>
          <p:cNvPr id="7" name="Picture 6" descr="A graph of a line&#10;&#10;AI-generated content may be incorrect.">
            <a:extLst>
              <a:ext uri="{FF2B5EF4-FFF2-40B4-BE49-F238E27FC236}">
                <a16:creationId xmlns:a16="http://schemas.microsoft.com/office/drawing/2014/main" id="{3F61313F-72D3-6797-531C-CAEE2ED293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699"/>
          <a:stretch>
            <a:fillRect/>
          </a:stretch>
        </p:blipFill>
        <p:spPr>
          <a:xfrm>
            <a:off x="2285999" y="1553035"/>
            <a:ext cx="8010395" cy="530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754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ABCBC-048D-2A87-0133-110C46F70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spatial and ecological interactions improves predictability of parasitoid diversity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2C3B80-00CB-E127-9D5F-6D332EAE6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533544"/>
              </p:ext>
            </p:extLst>
          </p:nvPr>
        </p:nvGraphicFramePr>
        <p:xfrm>
          <a:off x="2955491" y="1938718"/>
          <a:ext cx="6281018" cy="1933077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093673">
                  <a:extLst>
                    <a:ext uri="{9D8B030D-6E8A-4147-A177-3AD203B41FA5}">
                      <a16:colId xmlns:a16="http://schemas.microsoft.com/office/drawing/2014/main" val="1946256901"/>
                    </a:ext>
                  </a:extLst>
                </a:gridCol>
                <a:gridCol w="1911247">
                  <a:extLst>
                    <a:ext uri="{9D8B030D-6E8A-4147-A177-3AD203B41FA5}">
                      <a16:colId xmlns:a16="http://schemas.microsoft.com/office/drawing/2014/main" val="977476857"/>
                    </a:ext>
                  </a:extLst>
                </a:gridCol>
                <a:gridCol w="2276098">
                  <a:extLst>
                    <a:ext uri="{9D8B030D-6E8A-4147-A177-3AD203B41FA5}">
                      <a16:colId xmlns:a16="http://schemas.microsoft.com/office/drawing/2014/main" val="3565409973"/>
                    </a:ext>
                  </a:extLst>
                </a:gridCol>
              </a:tblGrid>
              <a:tr h="6792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Predictor variable</a:t>
                      </a:r>
                    </a:p>
                  </a:txBody>
                  <a:tcPr anchor="ctr" anchorCtr="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P-value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R-squared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81754485"/>
                  </a:ext>
                </a:extLst>
              </a:tr>
              <a:tr h="61377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FD"/>
                          </a:solidFill>
                        </a:rPr>
                        <a:t>Host Diversity</a:t>
                      </a:r>
                    </a:p>
                  </a:txBody>
                  <a:tcPr anchor="ctr" anchorCtr="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0.0231</a:t>
                      </a:r>
                      <a:r>
                        <a:rPr lang="en-US" b="1" dirty="0"/>
                        <a:t>*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0.519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913754"/>
                  </a:ext>
                </a:extLst>
              </a:tr>
              <a:tr h="6347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C000"/>
                          </a:solidFill>
                        </a:rPr>
                        <a:t>Latitude</a:t>
                      </a:r>
                    </a:p>
                  </a:txBody>
                  <a:tcPr anchor="ctr" anchorCtr="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0.0474</a:t>
                      </a:r>
                      <a:r>
                        <a:rPr lang="en-US" b="1" dirty="0"/>
                        <a:t>*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9271179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18DEA7E-D5BE-8C5C-C448-F34B4435E5C1}"/>
              </a:ext>
            </a:extLst>
          </p:cNvPr>
          <p:cNvSpPr txBox="1"/>
          <p:nvPr/>
        </p:nvSpPr>
        <p:spPr>
          <a:xfrm>
            <a:off x="310083" y="4230717"/>
            <a:ext cx="11571833" cy="2262158"/>
          </a:xfrm>
          <a:prstGeom prst="rect">
            <a:avLst/>
          </a:prstGeom>
          <a:noFill/>
        </p:spPr>
        <p:txBody>
          <a:bodyPr wrap="square" tIns="0" rtlCol="0" anchor="ctr" anchorCtr="0">
            <a:spAutoFit/>
          </a:bodyPr>
          <a:lstStyle/>
          <a:p>
            <a:pPr algn="ctr"/>
            <a:r>
              <a:rPr lang="en-US" sz="2400" dirty="0"/>
              <a:t>Parasitoid diversity is </a:t>
            </a:r>
            <a:r>
              <a:rPr lang="en-US" sz="2400" b="1" dirty="0"/>
              <a:t>significantly </a:t>
            </a:r>
            <a:r>
              <a:rPr lang="en-US" sz="2400" dirty="0"/>
              <a:t>predicted by covariates.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Host diversity effective degree of freedom (2.132) suggests non-linear effect.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Latitude narrow Confidence Interval (30</a:t>
            </a:r>
            <a:r>
              <a:rPr lang="en-US" sz="2400" dirty="0">
                <a:cs typeface="Arial" panose="020B0604020202020204" pitchFamily="34" charset="0"/>
              </a:rPr>
              <a:t>°) suggests dense sampling. </a:t>
            </a:r>
            <a:endParaRPr lang="en-US" sz="2400" dirty="0"/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58987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A6C0-275F-55E7-E1ED-F83A8152D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44051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r>
              <a:rPr lang="en-US" dirty="0"/>
              <a:t>Proportion of variance (~52%) indicates additional covariates could improve model accuracy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597CA-14DB-230A-A21E-B59CC1668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82824"/>
            <a:ext cx="10515600" cy="395894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Environmental:</a:t>
            </a:r>
            <a:r>
              <a:rPr lang="en-US" dirty="0"/>
              <a:t> temperature, precipitation, seasonality, habitat (Castellanos-</a:t>
            </a:r>
            <a:r>
              <a:rPr lang="en-US" dirty="0" err="1"/>
              <a:t>Labarcena</a:t>
            </a:r>
            <a:r>
              <a:rPr lang="en-US" dirty="0"/>
              <a:t>, 2024).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Biotic:</a:t>
            </a:r>
            <a:r>
              <a:rPr lang="en-US" dirty="0"/>
              <a:t> competition, predation, parasitoid life-history strategies (</a:t>
            </a:r>
            <a:r>
              <a:rPr lang="en-CA" dirty="0"/>
              <a:t>endoparasitoidism vs ectoparasitoidism, Idiobiont vs Koinobiont) (Quicke, 2015).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b="1" dirty="0"/>
              <a:t>Additional hosts: </a:t>
            </a:r>
            <a:r>
              <a:rPr lang="en-CA" dirty="0"/>
              <a:t>caterpillars, beetles, aphids, spiders, ticks, mites, nematodes (Wahl &amp; Sharkey, 1993).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156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3EF75-CFE6-1B52-854F-FA3423124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B7A92-420D-3F4E-5753-74FFB2567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 would like to express gratitude to Dirk Steinke for their advice and guidance on my regression analysis and plot decisions.</a:t>
            </a:r>
          </a:p>
          <a:p>
            <a:pPr marL="0" indent="0">
              <a:buNone/>
            </a:pPr>
            <a:r>
              <a:rPr lang="en-US" dirty="0"/>
              <a:t>I would also like to thank my colleagues Eva Innocenta, Farah Sadoon, Liona Vu, Sharon </a:t>
            </a:r>
            <a:r>
              <a:rPr lang="en-US" dirty="0" err="1"/>
              <a:t>Tsukernik</a:t>
            </a:r>
            <a:r>
              <a:rPr lang="en-US" dirty="0"/>
              <a:t> and Sabrina </a:t>
            </a:r>
            <a:r>
              <a:rPr lang="en-US" dirty="0" err="1"/>
              <a:t>Saiphoo</a:t>
            </a:r>
            <a:r>
              <a:rPr lang="en-US" dirty="0"/>
              <a:t> for reviewing my R code and providing me with meaningful feedback regarding my visualizations. </a:t>
            </a:r>
          </a:p>
          <a:p>
            <a:pPr marL="0" indent="0">
              <a:buNone/>
            </a:pPr>
            <a:r>
              <a:rPr lang="en-US" dirty="0"/>
              <a:t>Finally, I’d like to thank Jesscia Castellanos-</a:t>
            </a:r>
            <a:r>
              <a:rPr lang="en-US" dirty="0" err="1"/>
              <a:t>Labarcena</a:t>
            </a:r>
            <a:r>
              <a:rPr lang="en-US" dirty="0"/>
              <a:t> for inspiring this project and for providing me with insight into the limitations of studying parasitoid-host interactions at the community level.</a:t>
            </a:r>
          </a:p>
        </p:txBody>
      </p:sp>
    </p:spTree>
    <p:extLst>
      <p:ext uri="{BB962C8B-B14F-4D97-AF65-F5344CB8AC3E}">
        <p14:creationId xmlns:p14="http://schemas.microsoft.com/office/powerpoint/2010/main" val="1428138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0D2BE-4CDA-ADC3-E58D-CBA1B1271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169182"/>
            <a:ext cx="3145971" cy="1097915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626644-8F2D-BB09-1BCA-43145A4BB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" y="1371600"/>
            <a:ext cx="11231879" cy="48171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Castellanos-</a:t>
            </a:r>
            <a:r>
              <a:rPr lang="en-US" sz="2200" dirty="0" err="1"/>
              <a:t>Labarcena</a:t>
            </a:r>
            <a:r>
              <a:rPr lang="en-US" sz="2200" dirty="0"/>
              <a:t>, J., Steinke, D., &amp; Adamowicz, S. J. (2024). Anomalous latitudinal gradients in parasitoid wasp diversity—Hotspots in regions with larger temperature range. </a:t>
            </a:r>
            <a:r>
              <a:rPr lang="en-US" sz="2200" i="1" dirty="0"/>
              <a:t>Journal of Animal Ecology</a:t>
            </a:r>
            <a:r>
              <a:rPr lang="en-US" sz="2200" dirty="0"/>
              <a:t>, </a:t>
            </a:r>
            <a:r>
              <a:rPr lang="en-US" sz="2200" i="1" dirty="0"/>
              <a:t>94</a:t>
            </a:r>
            <a:r>
              <a:rPr lang="en-US" sz="2200" dirty="0"/>
              <a:t>(3), 410-422. </a:t>
            </a:r>
            <a:r>
              <a:rPr lang="en-CA" sz="2200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https://doi.org/10.1111/1365-2656.14196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Mannion, P. D. (2020). A deep-time perspective on the latitudinal diversity gradient. </a:t>
            </a:r>
            <a:r>
              <a:rPr lang="en-US" sz="2200" i="1" dirty="0"/>
              <a:t>Proceedings of the National Academy of Science</a:t>
            </a:r>
            <a:r>
              <a:rPr lang="en-US" sz="2200" dirty="0"/>
              <a:t>, </a:t>
            </a:r>
            <a:r>
              <a:rPr lang="en-CA" sz="2200" i="1" dirty="0"/>
              <a:t>117</a:t>
            </a:r>
            <a:r>
              <a:rPr lang="en-CA" sz="2200" dirty="0"/>
              <a:t>(30), 17479-17481. </a:t>
            </a:r>
            <a:r>
              <a:rPr lang="en-CA" sz="2200" b="1" u="sng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https://doi.org/10.1073/pnas.2011997117</a:t>
            </a:r>
            <a:endParaRPr lang="en-CA" sz="2200" b="1" u="sng" dirty="0"/>
          </a:p>
          <a:p>
            <a:pPr marL="0" indent="0">
              <a:buNone/>
            </a:pPr>
            <a:r>
              <a:rPr lang="en-CA" sz="2200" dirty="0"/>
              <a:t>Quicke, D. L. J. </a:t>
            </a:r>
            <a:r>
              <a:rPr lang="en-CA" sz="2200" i="1" dirty="0" err="1"/>
              <a:t>Idiobionts</a:t>
            </a:r>
            <a:r>
              <a:rPr lang="en-CA" sz="2200" i="1" dirty="0"/>
              <a:t>, Koinobionts and Other Life History Traits</a:t>
            </a:r>
            <a:r>
              <a:rPr lang="en-CA" sz="2200" dirty="0"/>
              <a:t>. John Wiley &amp; Sons, 2014, pp.  87-105.</a:t>
            </a:r>
            <a:endParaRPr lang="en-CA" sz="2200" b="1" u="sng" dirty="0"/>
          </a:p>
          <a:p>
            <a:pPr marL="0" indent="0">
              <a:buNone/>
            </a:pPr>
            <a:r>
              <a:rPr lang="en-CA" sz="2200" dirty="0"/>
              <a:t>Timms, L. J., </a:t>
            </a:r>
            <a:r>
              <a:rPr lang="en-CA" sz="2200" dirty="0" err="1"/>
              <a:t>Schwarzfeld</a:t>
            </a:r>
            <a:r>
              <a:rPr lang="en-CA" sz="2200" dirty="0"/>
              <a:t>, M., &amp; </a:t>
            </a:r>
            <a:r>
              <a:rPr lang="en-CA" sz="2200" dirty="0" err="1"/>
              <a:t>Sääksjärvi</a:t>
            </a:r>
            <a:r>
              <a:rPr lang="en-CA" sz="2200" dirty="0"/>
              <a:t>, I. E. (2016). Extending understanding of latitudinal patterns </a:t>
            </a:r>
            <a:r>
              <a:rPr lang="en-CA" sz="2200" dirty="0" err="1"/>
              <a:t>inparasitoid</a:t>
            </a:r>
            <a:r>
              <a:rPr lang="en-CA" sz="2200" dirty="0"/>
              <a:t> wasp diversity. </a:t>
            </a:r>
            <a:r>
              <a:rPr lang="en-CA" sz="2200" i="1" dirty="0"/>
              <a:t>Insect Conservation and Diversity</a:t>
            </a:r>
            <a:r>
              <a:rPr lang="en-CA" sz="2200" dirty="0"/>
              <a:t>, </a:t>
            </a:r>
            <a:r>
              <a:rPr lang="en-CA" sz="2200" i="1" dirty="0"/>
              <a:t>9</a:t>
            </a:r>
            <a:r>
              <a:rPr lang="en-CA" sz="2200" dirty="0"/>
              <a:t>(1), 74-86. </a:t>
            </a:r>
            <a:r>
              <a:rPr lang="en-CA" sz="2200" b="1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https://doi.org/10.1111/icad.12144</a:t>
            </a:r>
            <a:endParaRPr lang="en-CA" sz="2200" b="1" dirty="0"/>
          </a:p>
          <a:p>
            <a:pPr marL="0" indent="0">
              <a:buNone/>
            </a:pPr>
            <a:r>
              <a:rPr lang="en-CA" sz="2200" dirty="0"/>
              <a:t>Wahl, D. B., &amp; Sharkey, M. J. </a:t>
            </a:r>
            <a:r>
              <a:rPr lang="en-CA" sz="2200" i="1" dirty="0"/>
              <a:t>Hymenoptera of the World: An Identification Guide to Families</a:t>
            </a:r>
            <a:r>
              <a:rPr lang="en-CA" sz="2200" dirty="0"/>
              <a:t>. Agriculture Canada, 1993, pp. 358-449.</a:t>
            </a:r>
            <a:endParaRPr lang="en-CA" sz="2200" i="1" dirty="0"/>
          </a:p>
          <a:p>
            <a:pPr marL="0" indent="0">
              <a:buNone/>
            </a:pPr>
            <a:endParaRPr lang="en-CA" sz="2200" dirty="0"/>
          </a:p>
          <a:p>
            <a:pPr marL="0" indent="0">
              <a:buNone/>
            </a:pPr>
            <a:endParaRPr lang="en-CA" sz="2200" b="1" u="sng" dirty="0"/>
          </a:p>
          <a:p>
            <a:pPr marL="0" indent="0">
              <a:buNone/>
            </a:pPr>
            <a:endParaRPr lang="en-CA" sz="2200" b="1" u="sng" dirty="0"/>
          </a:p>
          <a:p>
            <a:pPr marL="0" indent="0">
              <a:buNone/>
            </a:pPr>
            <a:endParaRPr lang="en-CA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884765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1174</TotalTime>
  <Words>819</Words>
  <Application>Microsoft Macintosh PowerPoint</Application>
  <PresentationFormat>Widescreen</PresentationFormat>
  <Paragraphs>109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Wingdings</vt:lpstr>
      <vt:lpstr>Office Theme</vt:lpstr>
      <vt:lpstr>  Understanding Atypical Parasitoid Wasp Diversity Trends Across Latitudes Through Host Diversity</vt:lpstr>
      <vt:lpstr>Understanding spatial-ecological-interactions</vt:lpstr>
      <vt:lpstr>PowerPoint Presentation</vt:lpstr>
      <vt:lpstr>PowerPoint Presentation</vt:lpstr>
      <vt:lpstr>PowerPoint Presentation</vt:lpstr>
      <vt:lpstr>Host closely follows typical trend with latitude, unlike Parasitoid that displays anomalous trend</vt:lpstr>
      <vt:lpstr>Effect of latitude on diversity differs between taxonomic groups</vt:lpstr>
      <vt:lpstr>Host Diversity is a significant predictor of Parasitoid Diversity when modelled with Latitude</vt:lpstr>
      <vt:lpstr>Latitude is a significant predictor of Parasitoid Diversity when modelled with Host Diversity</vt:lpstr>
      <vt:lpstr>Combining spatial and ecological interactions improves predictability of parasitoid diversity</vt:lpstr>
      <vt:lpstr> Proportion of variance (~52%) indicates additional covariates could improve model accuracy  </vt:lpstr>
      <vt:lpstr>Acknowledgements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Rebecca Hest</dc:creator>
  <cp:lastModifiedBy>Rebecca Hest</cp:lastModifiedBy>
  <cp:revision>24</cp:revision>
  <dcterms:created xsi:type="dcterms:W3CDTF">2025-09-24T22:16:14Z</dcterms:created>
  <dcterms:modified xsi:type="dcterms:W3CDTF">2025-10-12T20:19:06Z</dcterms:modified>
</cp:coreProperties>
</file>